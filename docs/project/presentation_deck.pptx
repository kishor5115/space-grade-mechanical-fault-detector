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I am presenting Team B22's Space-Grade Mechanical Fault Detector. Critical satellite components, such as reaction wheels and cryogenic pumps, experience mechanical degradation that generates distinct, high-frequency vibration signatures long before catastrophic failure occurs.</a:t>
            </a:r>
          </a:p>
          <a:p/>
          <a:p>
            <a:r>
              <a:t>Streaming raw high-speed vibration data continuously to the central spacecraft computer consumes excessive power and telemetry bandwidth. Our solution is a dedicated, radiation-hardened edge-processing ASIC that performs Goertzel-based spectral analysis directly at the sensor node and raises a hardware interrupt only when an anomaly is verified, respecting a strict 600-by-600 micron area limit.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modular hardware pipeline. Our system comprises eight custom modules. First, the SPI Master interfaces directly with the MEMS accelerometer, automatically configuring it on boot and reading 48-bit XYZ samples. The samples are buffered by the SPI-APB interface.</a:t>
            </a:r>
          </a:p>
          <a:p/>
          <a:p>
            <a:r>
              <a:t>To save critical die area, instead of implementing three parallel DSP pipelines, the Axis Sequencer time-multiplexes a single Goertzel engine sequentially across the X, Y, and Z axes. The resulting states are passed to the Magnitude Compute and Fault Flagger, which assert interrupts if thresholds are breached. By interfacing directly with a digital sensor, we avoid vulnerable on-chip analog circuits.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look at the communication interfaces. The SPI Master communicates with the sensor using SPI Mode 3, executing 48-bit burst reads of XYZ acceleration data. Because the sensor operates on an independent clock, we route inputs through double flip-flop synchronizers to avoid clock domain crossing issues.</a:t>
            </a:r>
          </a:p>
          <a:p/>
          <a:p>
            <a:r>
              <a:t>On the right, we have the SPI-APB interface and the APB Master. The SPI-APB wrapper stores the latest sensor sample, and the APB Master uses a simple 3-state FSM to issue transactions. It includes PREADY support to allow wait states when interfacing with slower system registers, and uses request-driven clocking to keep power consumption to a minimum.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Goertzel Core is the DSP engine. Rather than calculating a resource-intensive FFT, we use the Goertzel algorithm to compute energy at three targeted frequency bins. The core executes a second-order recurrence equation using saturating Q8.15 fixed-point arithmetic.</a:t>
            </a:r>
          </a:p>
          <a:p/>
          <a:p>
            <a:r>
              <a:t>To minimize area, all three frequency bins share a single hardware multiplier. Because the sensor's sample rate is 26.667 kilohertz and our clock is in the megahertz range, the Goertzel core only needs 6 clock cycles to process each sample. By implementing operand isolation to gate the multiplier inputs during the remaining idle cycles, the core is effectively idle 98.4% of the time, which minimizes dynamic power.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Magnitude Compute module converts internal recursive filter states into spectral energy using the Goertzel magnitude squared equation. Because this equation requires three multiplications, we would normally need more multipliers, which are very area-expensive. Instead, our design shares the existing multiplier inside the Goertzel Core.</a:t>
            </a:r>
          </a:p>
          <a:p/>
          <a:p>
            <a:r>
              <a:t>At the block boundary, we capture the final states in snapshot registers, freeing up the Goertzel Core to immediately start processing the next block. The Magnitude FSM then runs sequentially, reusing the shared multiplier over 24 clock cycles to compute energy for all three bins. This snapshot architecture prevents stalls and guarantees correct axis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 in orbits like LEO exposes electronics to space radiation, leading to Single Event Upsets and Latch-ups. We implement a multi-layered Radiation Hardening by Design strategy. Redundant registers are triplicated and majority voted, masking single bit flips instantly.</a:t>
            </a:r>
          </a:p>
          <a:p/>
          <a:p>
            <a:r>
              <a:t>To prevent multiple faults from building up, a periodic background scrubber checks configuration replicas and rewrites corrupted copies. On the physical layout side, we use an SRAM-free design, dedicated guard rings, and dense substrate taps to avoid latch-ups, along with interleaved signal routing to mitigate multi-node charge collection.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core engineering decision of our Chipathon design. The sensor outputs all 3 axes simultaneously, but our die area budget is strictly capped at 600-by-600 microns. We evaluated three options to resolve this.</a:t>
            </a:r>
          </a:p>
          <a:p/>
          <a:p>
            <a:r>
              <a:t>Option 1 used parallel cores but was too large. Option 2 used a sample buffer, which violated our SRAM-free radiation-hardening rules. We chose Option 3: reducing the block size from 512 to 171 samples. This not only fits within the area constraint, but actually provides a minor area reduction by saving counter bits, while improving vibration detection latency.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Reducing the block size to 171 samples results in quantitative trade-offs. On the positive side, our detection speed improves by three times, and full 3-axis rotation latency falls to 19.2 milliseconds. To maintain mathematical consistency, we recalibrated the detection threshold from 120 to 14.</a:t>
            </a:r>
          </a:p>
          <a:p/>
          <a:p>
            <a:r>
              <a:t>On the right, we acknowledge the limitations of this choice: sequential axis processing leads to a 66.7% loss of sample data, and we cannot detect simultaneous multi-axis faults within a single window. However, because spacecraft mechanical degradation occurs slowly over hours or days, a 19.2 ms full-axis cycle is extremely fast and more than sufficient.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performed extensive regression testing. All 79 verification assertions passed successfully. The top-level testbench verified Case 1 for normal operation and Cases 2, 3, and 4 for X, Y, and Z fault detection, confirming that axis indices are reported correctly and the interrupt asserts.</a:t>
            </a:r>
          </a:p>
          <a:p/>
          <a:p>
            <a:r>
              <a:t>The Goertzel Core testbench confirmed Q8.15 fixed-point mathematical precision, and the SPI Master testbench passed 71 checks, verifying that the 4-register boot configuration and data-ready burst handshakes execute without error. This gives us high confidence for tapeout.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our ASIC demonstrates direct digital sensor integration and a highly optimized, radiation-hardened architecture. Option 3 solved our area constraint while accelerating fault detection.</a:t>
            </a:r>
          </a:p>
          <a:p/>
          <a:p>
            <a:r>
              <a:t>Our next steps are highly realistic: we will tape out on the SSCS Chipathon shuttle, conduct post-silicon laboratory verification to measure power and latency, and then develop the parallel-core architecture to prepare for flight qualification on an educational CubeSat. Thank you, and I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876495" cy="68580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3779215" cy="4114800"/>
          </a:xfrm>
          <a:prstGeom prst="rect">
            <a:avLst/>
          </a:prstGeom>
          <a:noFill/>
        </p:spPr>
        <p:txBody>
          <a:bodyPr wrap="square">
            <a:spAutoFit/>
          </a:bodyPr>
          <a:lstStyle/>
          <a:p>
            <a:pPr algn="l">
              <a:defRPr sz="2800" b="1">
                <a:solidFill>
                  <a:srgbClr val="FFFFFF"/>
                </a:solidFill>
                <a:latin typeface="Arial"/>
              </a:defRPr>
            </a:pPr>
            <a:r>
              <a:t>SPACE-GRADE</a:t>
            </a:r>
          </a:p>
          <a:p>
            <a:pPr algn="l">
              <a:spcBef>
                <a:spcPts val="1000"/>
              </a:spcBef>
              <a:spcAft>
                <a:spcPts val="2000"/>
              </a:spcAft>
              <a:defRPr sz="3200" b="1">
                <a:solidFill>
                  <a:srgbClr val="FF6F00"/>
                </a:solidFill>
                <a:latin typeface="Arial"/>
              </a:defRPr>
            </a:pPr>
            <a:r>
              <a:t>MECHANICAL FAULT</a:t>
            </a:r>
            <a:br/>
            <a:r>
              <a:t>DETECTOR</a:t>
            </a:r>
          </a:p>
          <a:p>
            <a:pPr>
              <a:spcAft>
                <a:spcPts val="4000"/>
              </a:spcAft>
              <a:defRPr sz="1400" b="0">
                <a:solidFill>
                  <a:srgbClr val="FFFFFF"/>
                </a:solidFill>
                <a:latin typeface="Arial"/>
              </a:defRPr>
            </a:pPr>
            <a:r>
              <a:t>Radiation-Hardened Vibration Analysis ASIC</a:t>
            </a:r>
          </a:p>
          <a:p>
            <a:pPr>
              <a:spcBef>
                <a:spcPts val="2000"/>
              </a:spcBef>
              <a:defRPr sz="1200" i="1">
                <a:solidFill>
                  <a:srgbClr val="FFFFFF"/>
                </a:solidFill>
                <a:latin typeface="Arial"/>
              </a:defRPr>
            </a:pPr>
            <a:r>
              <a:t>Team B22 — Space Jam</a:t>
            </a:r>
            <a:br/>
            <a:r>
              <a:t>SSCS Chipathon 2026</a:t>
            </a:r>
            <a:br/>
            <a:r>
              <a:t>Target: GF180MCU (180nm CMOS)</a:t>
            </a:r>
          </a:p>
        </p:txBody>
      </p:sp>
      <p:sp>
        <p:nvSpPr>
          <p:cNvPr id="4" name="TextBox 3"/>
          <p:cNvSpPr txBox="1"/>
          <p:nvPr/>
        </p:nvSpPr>
        <p:spPr>
          <a:xfrm>
            <a:off x="5333695" y="914400"/>
            <a:ext cx="6400800" cy="5029200"/>
          </a:xfrm>
          <a:prstGeom prst="rect">
            <a:avLst/>
          </a:prstGeom>
          <a:noFill/>
        </p:spPr>
        <p:txBody>
          <a:bodyPr wrap="square">
            <a:spAutoFit/>
          </a:bodyPr>
          <a:lstStyle/>
          <a:p>
            <a:pPr>
              <a:spcAft>
                <a:spcPts val="1400"/>
              </a:spcAft>
              <a:defRPr sz="2200" b="1">
                <a:solidFill>
                  <a:srgbClr val="1A237E"/>
                </a:solidFill>
                <a:latin typeface="Arial"/>
              </a:defRPr>
            </a:pPr>
            <a:r>
              <a:t>Spacecraft Mechanical Failures</a:t>
            </a:r>
          </a:p>
          <a:p>
            <a:pPr>
              <a:spcAft>
                <a:spcPts val="2400"/>
              </a:spcAft>
              <a:defRPr sz="1400">
                <a:solidFill>
                  <a:srgbClr val="212121"/>
                </a:solidFill>
                <a:latin typeface="Arial"/>
              </a:defRPr>
            </a:pPr>
            <a:r>
              <a:t>Structural degradation generates distinct vibration signatures BEFORE catastrophic failure occurs. Edge detection is vital.</a:t>
            </a:r>
          </a:p>
          <a:p>
            <a:pPr>
              <a:spcAft>
                <a:spcPts val="1000"/>
              </a:spcAft>
              <a:defRPr sz="1400" b="1">
                <a:solidFill>
                  <a:srgbClr val="212121"/>
                </a:solidFill>
                <a:latin typeface="Arial"/>
              </a:defRPr>
            </a:pPr>
            <a:r>
              <a:t>🔧 Reaction Wheel Bearings  →  1 - 2 kHz range (indicator of bearing wear)</a:t>
            </a:r>
          </a:p>
          <a:p>
            <a:pPr>
              <a:spcAft>
                <a:spcPts val="1000"/>
              </a:spcAft>
              <a:defRPr sz="1400" b="1">
                <a:solidFill>
                  <a:srgbClr val="212121"/>
                </a:solidFill>
                <a:latin typeface="Arial"/>
              </a:defRPr>
            </a:pPr>
            <a:r>
              <a:t>⚙️ Cryogenic Pumps  →  3 - 5 kHz range (indicator of pump fatigue)</a:t>
            </a:r>
          </a:p>
          <a:p>
            <a:pPr>
              <a:spcAft>
                <a:spcPts val="1000"/>
              </a:spcAft>
              <a:defRPr sz="1400" b="1">
                <a:solidFill>
                  <a:srgbClr val="212121"/>
                </a:solidFill>
                <a:latin typeface="Arial"/>
              </a:defRPr>
            </a:pPr>
            <a:r>
              <a:t>📡 Deployment Hinges/Gears  →  8 - 12 kHz range (indicator of structural stress/damage)</a:t>
            </a:r>
          </a:p>
          <a:p>
            <a:br/>
            <a:pPr>
              <a:spcBef>
                <a:spcPts val="1400"/>
              </a:spcBef>
              <a:defRPr sz="1300">
                <a:solidFill>
                  <a:srgbClr val="757575"/>
                </a:solidFill>
                <a:latin typeface="Arial"/>
              </a:defRPr>
            </a:pPr>
            <a:r>
              <a:t>The Edge Processing Challenge:</a:t>
            </a:r>
            <a:br/>
            <a:r>
              <a:t>Streaming raw vibration data continuously to the host computer consumes excessive bandwidth and power. Our ASIC performs real-time onboard Goertzel spectral filtering and flags fault alerts directly at the sensor node, fitting within a strict 600×600 µm silicon footprint.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112772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1277295" cy="274320"/>
          </a:xfrm>
          <a:prstGeom prst="rect">
            <a:avLst/>
          </a:prstGeom>
          <a:noFill/>
        </p:spPr>
        <p:txBody>
          <a:bodyPr wrap="square" lIns="0" tIns="0" rIns="0" bIns="0">
            <a:spAutoFit/>
          </a:bodyPr>
          <a:lstStyle/>
          <a:p>
            <a:pPr>
              <a:defRPr sz="1000" b="1">
                <a:solidFill>
                  <a:srgbClr val="00796B"/>
                </a:solidFill>
                <a:latin typeface="Arial"/>
              </a:defRPr>
            </a:pPr>
            <a:r>
              <a:t>SPACE-GRADE MECHANICAL FAULT DETECTOR</a:t>
            </a:r>
          </a:p>
        </p:txBody>
      </p:sp>
      <p:sp>
        <p:nvSpPr>
          <p:cNvPr id="4" name="TextBox 3"/>
          <p:cNvSpPr txBox="1"/>
          <p:nvPr/>
        </p:nvSpPr>
        <p:spPr>
          <a:xfrm>
            <a:off x="457200" y="731520"/>
            <a:ext cx="11277295" cy="731520"/>
          </a:xfrm>
          <a:prstGeom prst="rect">
            <a:avLst/>
          </a:prstGeom>
          <a:noFill/>
        </p:spPr>
        <p:txBody>
          <a:bodyPr wrap="square" lIns="0" tIns="0" rIns="0" bIns="0">
            <a:spAutoFit/>
          </a:bodyPr>
          <a:lstStyle/>
          <a:p>
            <a:pPr>
              <a:defRPr sz="2800" b="1">
                <a:solidFill>
                  <a:srgbClr val="1A237E"/>
                </a:solidFill>
                <a:latin typeface="Arial"/>
              </a:defRPr>
            </a:pPr>
            <a:r>
              <a:t>ASIC System Architecture &amp; Dataflow Pipeline</a:t>
            </a:r>
          </a:p>
        </p:txBody>
      </p:sp>
      <p:sp>
        <p:nvSpPr>
          <p:cNvPr id="5" name="TextBox 4"/>
          <p:cNvSpPr txBox="1"/>
          <p:nvPr/>
        </p:nvSpPr>
        <p:spPr>
          <a:xfrm>
            <a:off x="457200" y="1645920"/>
            <a:ext cx="5486400" cy="4572000"/>
          </a:xfrm>
          <a:prstGeom prst="rect">
            <a:avLst/>
          </a:prstGeom>
          <a:noFill/>
        </p:spPr>
        <p:txBody>
          <a:bodyPr wrap="square">
            <a:spAutoFit/>
          </a:bodyPr>
          <a:lstStyle/>
          <a:p>
            <a:pPr>
              <a:spcAft>
                <a:spcPts val="1400"/>
              </a:spcAft>
              <a:defRPr sz="2000" b="1">
                <a:solidFill>
                  <a:srgbClr val="1A237E"/>
                </a:solidFill>
                <a:latin typeface="Arial"/>
              </a:defRPr>
            </a:pPr>
            <a:r>
              <a:t>Modular Pipeline Design</a:t>
            </a:r>
          </a:p>
          <a:p>
            <a:pPr>
              <a:spcAft>
                <a:spcPts val="600"/>
              </a:spcAft>
              <a:defRPr sz="1100">
                <a:solidFill>
                  <a:srgbClr val="212121"/>
                </a:solidFill>
                <a:latin typeface="Arial"/>
              </a:defRPr>
            </a:pPr>
            <a:r>
              <a:t>1. SPI Master: Configures and reads 48-bit XYZ samples from IIS3DWB MEMS sensor.</a:t>
            </a:r>
          </a:p>
          <a:p>
            <a:pPr>
              <a:spcAft>
                <a:spcPts val="600"/>
              </a:spcAft>
              <a:defRPr sz="1100">
                <a:solidFill>
                  <a:srgbClr val="212121"/>
                </a:solidFill>
                <a:latin typeface="Arial"/>
              </a:defRPr>
            </a:pPr>
            <a:r>
              <a:t>2. SPI-APB Interface: Buffers samples and decouples timing between SPI and APB clocks.</a:t>
            </a:r>
          </a:p>
          <a:p>
            <a:pPr>
              <a:spcAft>
                <a:spcPts val="600"/>
              </a:spcAft>
              <a:defRPr sz="1100">
                <a:solidFill>
                  <a:srgbClr val="212121"/>
                </a:solidFill>
                <a:latin typeface="Arial"/>
              </a:defRPr>
            </a:pPr>
            <a:r>
              <a:t>3. TMR Register Bank: Radiation-hardened configuration storage (coefficients, thresholds).</a:t>
            </a:r>
          </a:p>
          <a:p>
            <a:pPr>
              <a:spcAft>
                <a:spcPts val="600"/>
              </a:spcAft>
              <a:defRPr sz="1100">
                <a:solidFill>
                  <a:srgbClr val="212121"/>
                </a:solidFill>
                <a:latin typeface="Arial"/>
              </a:defRPr>
            </a:pPr>
            <a:r>
              <a:t>4. Axis Sequencer: Time-multiplexes X, Y, Z axis data to process them sequentially.</a:t>
            </a:r>
          </a:p>
          <a:p>
            <a:pPr>
              <a:spcAft>
                <a:spcPts val="600"/>
              </a:spcAft>
              <a:defRPr sz="1100">
                <a:solidFill>
                  <a:srgbClr val="212121"/>
                </a:solidFill>
                <a:latin typeface="Arial"/>
              </a:defRPr>
            </a:pPr>
            <a:r>
              <a:t>5. Goertzel Core: Custom hardware DSP engine for targeted frequency bin filtering.</a:t>
            </a:r>
          </a:p>
          <a:p>
            <a:pPr>
              <a:spcAft>
                <a:spcPts val="600"/>
              </a:spcAft>
              <a:defRPr sz="1100">
                <a:solidFill>
                  <a:srgbClr val="212121"/>
                </a:solidFill>
                <a:latin typeface="Arial"/>
              </a:defRPr>
            </a:pPr>
            <a:r>
              <a:t>6. Magnitude Compute: Converts recursive filter states into usable spectral energy.</a:t>
            </a:r>
          </a:p>
          <a:p>
            <a:pPr>
              <a:spcAft>
                <a:spcPts val="600"/>
              </a:spcAft>
              <a:defRPr sz="1100">
                <a:solidFill>
                  <a:srgbClr val="212121"/>
                </a:solidFill>
                <a:latin typeface="Arial"/>
              </a:defRPr>
            </a:pPr>
            <a:r>
              <a:t>7. Fault Flagger: Compares spectral magnitude to thresholds and asserts interrupt.</a:t>
            </a:r>
          </a:p>
          <a:p>
            <a:pPr>
              <a:spcAft>
                <a:spcPts val="600"/>
              </a:spcAft>
              <a:defRPr sz="1100">
                <a:solidFill>
                  <a:srgbClr val="212121"/>
                </a:solidFill>
                <a:latin typeface="Arial"/>
              </a:defRPr>
            </a:pPr>
            <a:r>
              <a:t>8. APB Master: Interfaces with system bus for register reads and configuration.</a:t>
            </a:r>
          </a:p>
          <a:p>
            <a:br/>
            <a:pPr>
              <a:spcBef>
                <a:spcPts val="800"/>
              </a:spcBef>
              <a:defRPr sz="1100" b="1">
                <a:solidFill>
                  <a:srgbClr val="00796B"/>
                </a:solidFill>
                <a:latin typeface="Arial"/>
              </a:defRPr>
            </a:pPr>
            <a:r>
              <a:t>✨ Innovation: Direct Digital MEMS Interface</a:t>
            </a:r>
            <a:br/>
            <a:r>
              <a:t>Eliminates analog radiation-vulnerable ADCs on-chip. Operates end-to-end digitally using the space-proven IIS3DWB digital output.</a:t>
            </a:r>
          </a:p>
        </p:txBody>
      </p:sp>
      <p:pic>
        <p:nvPicPr>
          <p:cNvPr id="6" name="Picture 5" descr="top_modules.png"/>
          <p:cNvPicPr>
            <a:picLocks noChangeAspect="1"/>
          </p:cNvPicPr>
          <p:nvPr/>
        </p:nvPicPr>
        <p:blipFill>
          <a:blip r:embed="rId2"/>
          <a:stretch>
            <a:fillRect/>
          </a:stretch>
        </p:blipFill>
        <p:spPr>
          <a:xfrm>
            <a:off x="6217920" y="1645920"/>
            <a:ext cx="5486400" cy="43891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112772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1277295" cy="274320"/>
          </a:xfrm>
          <a:prstGeom prst="rect">
            <a:avLst/>
          </a:prstGeom>
          <a:noFill/>
        </p:spPr>
        <p:txBody>
          <a:bodyPr wrap="square" lIns="0" tIns="0" rIns="0" bIns="0">
            <a:spAutoFit/>
          </a:bodyPr>
          <a:lstStyle/>
          <a:p>
            <a:pPr>
              <a:defRPr sz="1000" b="1">
                <a:solidFill>
                  <a:srgbClr val="00796B"/>
                </a:solidFill>
                <a:latin typeface="Arial"/>
              </a:defRPr>
            </a:pPr>
            <a:r>
              <a:t>SPACE-GRADE MECHANICAL FAULT DETECTOR</a:t>
            </a:r>
          </a:p>
        </p:txBody>
      </p:sp>
      <p:sp>
        <p:nvSpPr>
          <p:cNvPr id="4" name="TextBox 3"/>
          <p:cNvSpPr txBox="1"/>
          <p:nvPr/>
        </p:nvSpPr>
        <p:spPr>
          <a:xfrm>
            <a:off x="457200" y="731520"/>
            <a:ext cx="11277295" cy="731520"/>
          </a:xfrm>
          <a:prstGeom prst="rect">
            <a:avLst/>
          </a:prstGeom>
          <a:noFill/>
        </p:spPr>
        <p:txBody>
          <a:bodyPr wrap="square" lIns="0" tIns="0" rIns="0" bIns="0">
            <a:spAutoFit/>
          </a:bodyPr>
          <a:lstStyle/>
          <a:p>
            <a:pPr>
              <a:defRPr sz="2800" b="1">
                <a:solidFill>
                  <a:srgbClr val="1A237E"/>
                </a:solidFill>
                <a:latin typeface="Arial"/>
              </a:defRPr>
            </a:pPr>
            <a:r>
              <a:t>Direct Digital Sensor Interface (SPI &amp; APB Master)</a:t>
            </a:r>
          </a:p>
        </p:txBody>
      </p:sp>
      <p:sp>
        <p:nvSpPr>
          <p:cNvPr id="5" name="Rounded Rectangle 4"/>
          <p:cNvSpPr/>
          <p:nvPr/>
        </p:nvSpPr>
        <p:spPr>
          <a:xfrm>
            <a:off x="457200" y="1645920"/>
            <a:ext cx="5394960" cy="4572000"/>
          </a:xfrm>
          <a:prstGeom prst="roundRect">
            <a:avLst/>
          </a:prstGeom>
          <a:solidFill>
            <a:srgbClr val="E0F2F1"/>
          </a:solidFill>
          <a:ln w="19050">
            <a:solidFill>
              <a:srgbClr val="007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4846320" cy="4206240"/>
          </a:xfrm>
          <a:prstGeom prst="rect">
            <a:avLst/>
          </a:prstGeom>
          <a:noFill/>
        </p:spPr>
        <p:txBody>
          <a:bodyPr wrap="square">
            <a:spAutoFit/>
          </a:bodyPr>
          <a:lstStyle/>
          <a:p>
            <a:pPr>
              <a:spcAft>
                <a:spcPts val="1200"/>
              </a:spcAft>
              <a:defRPr sz="1800" b="1">
                <a:solidFill>
                  <a:srgbClr val="1A237E"/>
                </a:solidFill>
                <a:latin typeface="Arial"/>
              </a:defRPr>
            </a:pPr>
            <a:r>
              <a:t>SPI Master Interface (Module 1)</a:t>
            </a:r>
          </a:p>
          <a:p>
            <a:pPr>
              <a:spcAft>
                <a:spcPts val="1000"/>
              </a:spcAft>
              <a:defRPr sz="1300">
                <a:solidFill>
                  <a:srgbClr val="212121"/>
                </a:solidFill>
                <a:latin typeface="Arial"/>
              </a:defRPr>
            </a:pPr>
            <a:r>
              <a:t>• Protocol: SPI Mode-3 (CPOL=1, CPHA=1)</a:t>
            </a:r>
          </a:p>
          <a:p>
            <a:pPr>
              <a:spcAft>
                <a:spcPts val="1000"/>
              </a:spcAft>
              <a:defRPr sz="1300">
                <a:solidFill>
                  <a:srgbClr val="212121"/>
                </a:solidFill>
                <a:latin typeface="Arial"/>
              </a:defRPr>
            </a:pPr>
            <a:r>
              <a:t>• Acquisition: 48-bit XYZ burst reads minimize overhead</a:t>
            </a:r>
          </a:p>
          <a:p>
            <a:pPr>
              <a:spcAft>
                <a:spcPts val="1000"/>
              </a:spcAft>
              <a:defRPr sz="1300">
                <a:solidFill>
                  <a:srgbClr val="212121"/>
                </a:solidFill>
                <a:latin typeface="Arial"/>
              </a:defRPr>
            </a:pPr>
            <a:r>
              <a:t>• Clock Domain Crossing: 2FF synchronizers prevent metastability between domains</a:t>
            </a:r>
          </a:p>
          <a:p>
            <a:pPr>
              <a:spcAft>
                <a:spcPts val="1000"/>
              </a:spcAft>
              <a:defRPr sz="1300">
                <a:solidFill>
                  <a:srgbClr val="212121"/>
                </a:solidFill>
                <a:latin typeface="Arial"/>
              </a:defRPr>
            </a:pPr>
            <a:r>
              <a:t>• Triggering: Event-driven by sensor DRDY interrupt</a:t>
            </a:r>
          </a:p>
          <a:p>
            <a:pPr>
              <a:spcAft>
                <a:spcPts val="1000"/>
              </a:spcAft>
              <a:defRPr sz="1300">
                <a:solidFill>
                  <a:srgbClr val="212121"/>
                </a:solidFill>
                <a:latin typeface="Arial"/>
              </a:defRPr>
            </a:pPr>
            <a:r>
              <a:t>• Shared FSM: Seamlessly handles boot configuration (writing 4 registers) and runtime acquisition</a:t>
            </a:r>
          </a:p>
        </p:txBody>
      </p:sp>
      <p:sp>
        <p:nvSpPr>
          <p:cNvPr id="7" name="Rounded Rectangle 6"/>
          <p:cNvSpPr/>
          <p:nvPr/>
        </p:nvSpPr>
        <p:spPr>
          <a:xfrm>
            <a:off x="6339535" y="1645920"/>
            <a:ext cx="5394960" cy="4572000"/>
          </a:xfrm>
          <a:prstGeom prst="roundRect">
            <a:avLst/>
          </a:prstGeom>
          <a:solidFill>
            <a:srgbClr val="F8F9FA"/>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13855" y="1828800"/>
            <a:ext cx="4846320" cy="4206240"/>
          </a:xfrm>
          <a:prstGeom prst="rect">
            <a:avLst/>
          </a:prstGeom>
          <a:noFill/>
        </p:spPr>
        <p:txBody>
          <a:bodyPr wrap="square">
            <a:spAutoFit/>
          </a:bodyPr>
          <a:lstStyle/>
          <a:p>
            <a:pPr>
              <a:spcAft>
                <a:spcPts val="1200"/>
              </a:spcAft>
              <a:defRPr sz="1800" b="1">
                <a:solidFill>
                  <a:srgbClr val="1A237E"/>
                </a:solidFill>
                <a:latin typeface="Arial"/>
              </a:defRPr>
            </a:pPr>
            <a:r>
              <a:t>APB Master &amp; Bus Interface (Modules 2 &amp; 3)</a:t>
            </a:r>
          </a:p>
          <a:p>
            <a:pPr>
              <a:spcAft>
                <a:spcPts val="800"/>
              </a:spcAft>
              <a:defRPr sz="1300">
                <a:solidFill>
                  <a:srgbClr val="212121"/>
                </a:solidFill>
                <a:latin typeface="Arial"/>
              </a:defRPr>
            </a:pPr>
            <a:r>
              <a:t>• Protocol: Standard AMBA APB protocol</a:t>
            </a:r>
          </a:p>
          <a:p>
            <a:pPr>
              <a:spcAft>
                <a:spcPts val="800"/>
              </a:spcAft>
              <a:defRPr sz="1300">
                <a:solidFill>
                  <a:srgbClr val="212121"/>
                </a:solidFill>
                <a:latin typeface="Arial"/>
              </a:defRPr>
            </a:pPr>
            <a:r>
              <a:t>• Interface: Converts internal SPI sample updates into APB transactions</a:t>
            </a:r>
          </a:p>
          <a:p>
            <a:pPr>
              <a:spcAft>
                <a:spcPts val="800"/>
              </a:spcAft>
              <a:defRPr sz="1300">
                <a:solidFill>
                  <a:srgbClr val="212121"/>
                </a:solidFill>
                <a:latin typeface="Arial"/>
              </a:defRPr>
            </a:pPr>
            <a:r>
              <a:t>• FSM Control: Lightweight 3-state control (IDLE, SETUP, ACCESS)</a:t>
            </a:r>
          </a:p>
          <a:p>
            <a:pPr>
              <a:spcAft>
                <a:spcPts val="800"/>
              </a:spcAft>
              <a:defRPr sz="1300">
                <a:solidFill>
                  <a:srgbClr val="212121"/>
                </a:solidFill>
                <a:latin typeface="Arial"/>
              </a:defRPr>
            </a:pPr>
            <a:r>
              <a:t>• Wait States: Full PREADY support allows slow peripherals</a:t>
            </a:r>
          </a:p>
          <a:p>
            <a:pPr>
              <a:spcAft>
                <a:spcPts val="800"/>
              </a:spcAft>
              <a:defRPr sz="1300">
                <a:solidFill>
                  <a:srgbClr val="212121"/>
                </a:solidFill>
                <a:latin typeface="Arial"/>
              </a:defRPr>
            </a:pPr>
            <a:r>
              <a:t>• Efficiency: Request-driven transactions minimize switching activity, conserving dynamic power</a:t>
            </a:r>
          </a:p>
          <a:p>
            <a:pPr>
              <a:spcAft>
                <a:spcPts val="800"/>
              </a:spcAft>
              <a:defRPr sz="1300">
                <a:solidFill>
                  <a:srgbClr val="212121"/>
                </a:solidFill>
                <a:latin typeface="Arial"/>
              </a:defRPr>
            </a:pPr>
            <a:r>
              <a:t>• decoupling: Decouples fast SPI clock domain from system APB bus clock domain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112772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1277295" cy="274320"/>
          </a:xfrm>
          <a:prstGeom prst="rect">
            <a:avLst/>
          </a:prstGeom>
          <a:noFill/>
        </p:spPr>
        <p:txBody>
          <a:bodyPr wrap="square" lIns="0" tIns="0" rIns="0" bIns="0">
            <a:spAutoFit/>
          </a:bodyPr>
          <a:lstStyle/>
          <a:p>
            <a:pPr>
              <a:defRPr sz="1000" b="1">
                <a:solidFill>
                  <a:srgbClr val="00796B"/>
                </a:solidFill>
                <a:latin typeface="Arial"/>
              </a:defRPr>
            </a:pPr>
            <a:r>
              <a:t>SPACE-GRADE MECHANICAL FAULT DETECTOR</a:t>
            </a:r>
          </a:p>
        </p:txBody>
      </p:sp>
      <p:sp>
        <p:nvSpPr>
          <p:cNvPr id="4" name="TextBox 3"/>
          <p:cNvSpPr txBox="1"/>
          <p:nvPr/>
        </p:nvSpPr>
        <p:spPr>
          <a:xfrm>
            <a:off x="457200" y="731520"/>
            <a:ext cx="11277295" cy="731520"/>
          </a:xfrm>
          <a:prstGeom prst="rect">
            <a:avLst/>
          </a:prstGeom>
          <a:noFill/>
        </p:spPr>
        <p:txBody>
          <a:bodyPr wrap="square" lIns="0" tIns="0" rIns="0" bIns="0">
            <a:spAutoFit/>
          </a:bodyPr>
          <a:lstStyle/>
          <a:p>
            <a:pPr>
              <a:defRPr sz="2800" b="1">
                <a:solidFill>
                  <a:srgbClr val="1A237E"/>
                </a:solidFill>
                <a:latin typeface="Arial"/>
              </a:defRPr>
            </a:pPr>
            <a:r>
              <a:t>Hardware-Optimized DSP Engine (Goertzel Core)</a:t>
            </a:r>
          </a:p>
        </p:txBody>
      </p:sp>
      <p:sp>
        <p:nvSpPr>
          <p:cNvPr id="5" name="TextBox 4"/>
          <p:cNvSpPr txBox="1"/>
          <p:nvPr/>
        </p:nvSpPr>
        <p:spPr>
          <a:xfrm>
            <a:off x="457200" y="1645920"/>
            <a:ext cx="5394960" cy="4572000"/>
          </a:xfrm>
          <a:prstGeom prst="rect">
            <a:avLst/>
          </a:prstGeom>
          <a:noFill/>
        </p:spPr>
        <p:txBody>
          <a:bodyPr wrap="square">
            <a:spAutoFit/>
          </a:bodyPr>
          <a:lstStyle/>
          <a:p>
            <a:pPr>
              <a:spcAft>
                <a:spcPts val="1400"/>
              </a:spcAft>
              <a:defRPr sz="2000" b="1">
                <a:solidFill>
                  <a:srgbClr val="1A237E"/>
                </a:solidFill>
                <a:latin typeface="Arial"/>
              </a:defRPr>
            </a:pPr>
            <a:r>
              <a:t>The Goertzel Algorithm</a:t>
            </a:r>
          </a:p>
          <a:p>
            <a:pPr>
              <a:spcAft>
                <a:spcPts val="1400"/>
              </a:spcAft>
              <a:defRPr sz="1400" b="1">
                <a:solidFill>
                  <a:srgbClr val="FF6F00"/>
                </a:solidFill>
                <a:latin typeface="Courier New"/>
              </a:defRPr>
            </a:pPr>
            <a:r>
              <a:t>Recurrence Relation (Second-Order IIR Filter):</a:t>
            </a:r>
            <a:br/>
            <a:r>
              <a:t>v[n] = x[n] + C · v[n-1] - v[n-2]</a:t>
            </a:r>
          </a:p>
          <a:p>
            <a:pPr>
              <a:spcAft>
                <a:spcPts val="1400"/>
              </a:spcAft>
              <a:defRPr sz="1300">
                <a:solidFill>
                  <a:srgbClr val="212121"/>
                </a:solidFill>
                <a:latin typeface="Arial"/>
              </a:defRPr>
            </a:pPr>
            <a:r>
              <a:t>Why Goertzel over FFT?</a:t>
            </a:r>
            <a:br/>
            <a:r>
              <a:t>Instead of computing the entire frequency spectrum, the Goertzel algorithm computes energy at specifically targeted bins. This drastically reduces mathematical complexity, silicon area, and power consumption, making it ideal for edge processing.</a:t>
            </a:r>
          </a:p>
          <a:p>
            <a:pPr>
              <a:defRPr sz="1300">
                <a:solidFill>
                  <a:srgbClr val="212121"/>
                </a:solidFill>
                <a:latin typeface="Arial"/>
              </a:defRPr>
            </a:pPr>
            <a:r>
              <a:t>• Bins monitored: 3 programmable bins (1k, 5k, 10k Hz)</a:t>
            </a:r>
            <a:br/>
            <a:r>
              <a:t>• Execution speed: 6 clock cycles per sample</a:t>
            </a:r>
            <a:br/>
            <a:r>
              <a:t>• Control: Triplicated (TMR) state transition logic</a:t>
            </a:r>
          </a:p>
        </p:txBody>
      </p:sp>
      <p:sp>
        <p:nvSpPr>
          <p:cNvPr id="6" name="Rounded Rectangle 5"/>
          <p:cNvSpPr/>
          <p:nvPr/>
        </p:nvSpPr>
        <p:spPr>
          <a:xfrm>
            <a:off x="6339535" y="1645920"/>
            <a:ext cx="5394960" cy="4572000"/>
          </a:xfrm>
          <a:prstGeom prst="roundRect">
            <a:avLst/>
          </a:prstGeom>
          <a:solidFill>
            <a:srgbClr val="F8F9FA"/>
          </a:solidFill>
          <a:ln w="19050">
            <a:solidFill>
              <a:srgbClr val="007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13855" y="1828800"/>
            <a:ext cx="4846320" cy="4206240"/>
          </a:xfrm>
          <a:prstGeom prst="rect">
            <a:avLst/>
          </a:prstGeom>
          <a:noFill/>
        </p:spPr>
        <p:txBody>
          <a:bodyPr wrap="square">
            <a:spAutoFit/>
          </a:bodyPr>
          <a:lstStyle/>
          <a:p>
            <a:pPr>
              <a:spcAft>
                <a:spcPts val="1200"/>
              </a:spcAft>
              <a:defRPr sz="1800" b="1">
                <a:solidFill>
                  <a:srgbClr val="1A237E"/>
                </a:solidFill>
                <a:latin typeface="Arial"/>
              </a:defRPr>
            </a:pPr>
            <a:r>
              <a:t>DSP Hardware Features (Module 6)</a:t>
            </a:r>
          </a:p>
          <a:p>
            <a:pPr>
              <a:spcAft>
                <a:spcPts val="800"/>
              </a:spcAft>
              <a:defRPr sz="1200">
                <a:solidFill>
                  <a:srgbClr val="212121"/>
                </a:solidFill>
                <a:latin typeface="Arial"/>
              </a:defRPr>
            </a:pPr>
            <a:r>
              <a:t>• Shared Multiplier: A single multiplier block is shared across all three frequency bins via time-multiplexing, avoiding logic duplication.</a:t>
            </a:r>
          </a:p>
          <a:p>
            <a:pPr>
              <a:spcAft>
                <a:spcPts val="800"/>
              </a:spcAft>
              <a:defRPr sz="1200">
                <a:solidFill>
                  <a:srgbClr val="212121"/>
                </a:solidFill>
                <a:latin typeface="Arial"/>
              </a:defRPr>
            </a:pPr>
            <a:r>
              <a:t>• Saturating Q8.15 Fixed-Point: Handles fractional math and prevents arithmetic overflow corruption in recursive loops.</a:t>
            </a:r>
          </a:p>
          <a:p>
            <a:pPr>
              <a:spcAft>
                <a:spcPts val="800"/>
              </a:spcAft>
              <a:defRPr sz="1200">
                <a:solidFill>
                  <a:srgbClr val="212121"/>
                </a:solidFill>
                <a:latin typeface="Arial"/>
              </a:defRPr>
            </a:pPr>
            <a:r>
              <a:t>• Operand Isolation: Input registers to the multiplier are gated (isolated) when the core is idle.</a:t>
            </a:r>
          </a:p>
          <a:p>
            <a:pPr>
              <a:spcAft>
                <a:spcPts val="800"/>
              </a:spcAft>
              <a:defRPr sz="1200">
                <a:solidFill>
                  <a:srgbClr val="212121"/>
                </a:solidFill>
                <a:latin typeface="Arial"/>
              </a:defRPr>
            </a:pPr>
            <a:r>
              <a:t>• Power Savings: With the multiplier active only 6 cycles out of every 1875 cycles (sample period), the DSP engine is idle 98.4% of the time, dramatically reducing dynamic power.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112772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1277295" cy="274320"/>
          </a:xfrm>
          <a:prstGeom prst="rect">
            <a:avLst/>
          </a:prstGeom>
          <a:noFill/>
        </p:spPr>
        <p:txBody>
          <a:bodyPr wrap="square" lIns="0" tIns="0" rIns="0" bIns="0">
            <a:spAutoFit/>
          </a:bodyPr>
          <a:lstStyle/>
          <a:p>
            <a:pPr>
              <a:defRPr sz="1000" b="1">
                <a:solidFill>
                  <a:srgbClr val="00796B"/>
                </a:solidFill>
                <a:latin typeface="Arial"/>
              </a:defRPr>
            </a:pPr>
            <a:r>
              <a:t>SPACE-GRADE MECHANICAL FAULT DETECTOR</a:t>
            </a:r>
          </a:p>
        </p:txBody>
      </p:sp>
      <p:sp>
        <p:nvSpPr>
          <p:cNvPr id="4" name="TextBox 3"/>
          <p:cNvSpPr txBox="1"/>
          <p:nvPr/>
        </p:nvSpPr>
        <p:spPr>
          <a:xfrm>
            <a:off x="457200" y="731520"/>
            <a:ext cx="11277295" cy="731520"/>
          </a:xfrm>
          <a:prstGeom prst="rect">
            <a:avLst/>
          </a:prstGeom>
          <a:noFill/>
        </p:spPr>
        <p:txBody>
          <a:bodyPr wrap="square" lIns="0" tIns="0" rIns="0" bIns="0">
            <a:spAutoFit/>
          </a:bodyPr>
          <a:lstStyle/>
          <a:p>
            <a:pPr>
              <a:defRPr sz="2800" b="1">
                <a:solidFill>
                  <a:srgbClr val="1A237E"/>
                </a:solidFill>
                <a:latin typeface="Arial"/>
              </a:defRPr>
            </a:pPr>
            <a:r>
              <a:t>Magnitude Compute Engine</a:t>
            </a:r>
          </a:p>
        </p:txBody>
      </p:sp>
      <p:sp>
        <p:nvSpPr>
          <p:cNvPr id="5" name="TextBox 4"/>
          <p:cNvSpPr txBox="1"/>
          <p:nvPr/>
        </p:nvSpPr>
        <p:spPr>
          <a:xfrm>
            <a:off x="457200" y="1645920"/>
            <a:ext cx="5486400" cy="4572000"/>
          </a:xfrm>
          <a:prstGeom prst="rect">
            <a:avLst/>
          </a:prstGeom>
          <a:noFill/>
        </p:spPr>
        <p:txBody>
          <a:bodyPr wrap="square">
            <a:spAutoFit/>
          </a:bodyPr>
          <a:lstStyle/>
          <a:p>
            <a:pPr>
              <a:spcAft>
                <a:spcPts val="1400"/>
              </a:spcAft>
              <a:defRPr sz="2000" b="1">
                <a:solidFill>
                  <a:srgbClr val="1A237E"/>
                </a:solidFill>
                <a:latin typeface="Arial"/>
              </a:defRPr>
            </a:pPr>
            <a:r>
              <a:t>Goertzel Magnitude Squared</a:t>
            </a:r>
          </a:p>
          <a:p>
            <a:pPr>
              <a:spcAft>
                <a:spcPts val="1400"/>
              </a:spcAft>
              <a:defRPr sz="1600" b="1">
                <a:solidFill>
                  <a:srgbClr val="FF6F00"/>
                </a:solidFill>
                <a:latin typeface="Courier New"/>
              </a:defRPr>
            </a:pPr>
            <a:r>
              <a:t>Magnitude² = v1² + v2² - C · v1 · v2</a:t>
            </a:r>
          </a:p>
          <a:p>
            <a:pPr>
              <a:spcAft>
                <a:spcPts val="1400"/>
              </a:spcAft>
              <a:defRPr sz="1300">
                <a:solidFill>
                  <a:srgbClr val="212121"/>
                </a:solidFill>
                <a:latin typeface="Arial"/>
              </a:defRPr>
            </a:pPr>
            <a:r>
              <a:t>Where v1 = v[N-1] and v2 = v[N-2] represent the final states of the Goertzel core at the block boundary. The resulting magnitude represents the spectral energy at the monitored frequency.</a:t>
            </a:r>
          </a:p>
          <a:p>
            <a:pPr>
              <a:defRPr sz="1300">
                <a:solidFill>
                  <a:srgbClr val="00796B"/>
                </a:solidFill>
                <a:latin typeface="Arial"/>
              </a:defRPr>
            </a:pPr>
            <a:r>
              <a:t>✨ Snapshot Architecture (Module 7):</a:t>
            </a:r>
            <a:br/>
            <a:r>
              <a:t>At the block boundary, the Magnitude Compute module immediately captures v1, v2, the coefficient, and the axis index in snapshot registers. This allows the Goertzel Core to clear its accumulators and start filtering the next sample block immediately without stalling.</a:t>
            </a:r>
          </a:p>
        </p:txBody>
      </p:sp>
      <p:sp>
        <p:nvSpPr>
          <p:cNvPr id="6" name="Rounded Rectangle 5"/>
          <p:cNvSpPr/>
          <p:nvPr/>
        </p:nvSpPr>
        <p:spPr>
          <a:xfrm>
            <a:off x="6339535" y="1645920"/>
            <a:ext cx="5394960" cy="4572000"/>
          </a:xfrm>
          <a:prstGeom prst="roundRect">
            <a:avLst/>
          </a:prstGeom>
          <a:solidFill>
            <a:srgbClr val="F8F9FA"/>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13855" y="1828800"/>
            <a:ext cx="4846320" cy="4206240"/>
          </a:xfrm>
          <a:prstGeom prst="rect">
            <a:avLst/>
          </a:prstGeom>
          <a:noFill/>
        </p:spPr>
        <p:txBody>
          <a:bodyPr wrap="square">
            <a:spAutoFit/>
          </a:bodyPr>
          <a:lstStyle/>
          <a:p>
            <a:pPr>
              <a:spcAft>
                <a:spcPts val="1200"/>
              </a:spcAft>
              <a:defRPr sz="1800" b="1">
                <a:solidFill>
                  <a:srgbClr val="1A237E"/>
                </a:solidFill>
                <a:latin typeface="Arial"/>
              </a:defRPr>
            </a:pPr>
            <a:r>
              <a:t>Resource Sharing (Zero-Area Multiplier)</a:t>
            </a:r>
          </a:p>
          <a:p>
            <a:pPr>
              <a:spcAft>
                <a:spcPts val="800"/>
              </a:spcAft>
              <a:defRPr sz="1200">
                <a:solidFill>
                  <a:srgbClr val="212121"/>
                </a:solidFill>
                <a:latin typeface="Arial"/>
              </a:defRPr>
            </a:pPr>
            <a:r>
              <a:t>• Shared Hardware Multiplier: The Magnitude Engine does not contain its own multiplier. Instead, it multiplexes and reuses the multiplier in the Goertzel Core, saving significant silicon area.</a:t>
            </a:r>
          </a:p>
          <a:p>
            <a:pPr>
              <a:spcAft>
                <a:spcPts val="800"/>
              </a:spcAft>
              <a:defRPr sz="1200">
                <a:solidFill>
                  <a:srgbClr val="212121"/>
                </a:solidFill>
                <a:latin typeface="Arial"/>
              </a:defRPr>
            </a:pPr>
            <a:r>
              <a:t>• Sequential Magnitude FSM: One FSM calculates the magnitude of the 3 bins sequentially (taking 8 cycles per bin, 24 cycles total). No dedicated per-bin arithmetic is duplicated.</a:t>
            </a:r>
          </a:p>
          <a:p>
            <a:pPr>
              <a:spcAft>
                <a:spcPts val="800"/>
              </a:spcAft>
              <a:defRPr sz="1200">
                <a:solidFill>
                  <a:srgbClr val="212121"/>
                </a:solidFill>
                <a:latin typeface="Arial"/>
              </a:defRPr>
            </a:pPr>
            <a:r>
              <a:t>• Triggering: The Magnitude Compute FSM remains completely idle, drawing near-zero dynamic power, until triggered at a block boundary.</a:t>
            </a:r>
          </a:p>
          <a:p>
            <a:pPr>
              <a:spcAft>
                <a:spcPts val="800"/>
              </a:spcAft>
              <a:defRPr sz="1200">
                <a:solidFill>
                  <a:srgbClr val="212121"/>
                </a:solidFill>
                <a:latin typeface="Arial"/>
              </a:defRPr>
            </a:pPr>
            <a:r>
              <a:t>• Axis Attribution: The physical axis index is snapshotted alongside Goertzel states. This guarantees that every magnitude output is correctly paired with the X, Y, or Z axis, even if the sequencer advances to another axis.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112772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1277295" cy="274320"/>
          </a:xfrm>
          <a:prstGeom prst="rect">
            <a:avLst/>
          </a:prstGeom>
          <a:noFill/>
        </p:spPr>
        <p:txBody>
          <a:bodyPr wrap="square" lIns="0" tIns="0" rIns="0" bIns="0">
            <a:spAutoFit/>
          </a:bodyPr>
          <a:lstStyle/>
          <a:p>
            <a:pPr>
              <a:defRPr sz="1000" b="1">
                <a:solidFill>
                  <a:srgbClr val="00796B"/>
                </a:solidFill>
                <a:latin typeface="Arial"/>
              </a:defRPr>
            </a:pPr>
            <a:r>
              <a:t>SPACE-GRADE MECHANICAL FAULT DETECTOR</a:t>
            </a:r>
          </a:p>
        </p:txBody>
      </p:sp>
      <p:sp>
        <p:nvSpPr>
          <p:cNvPr id="4" name="TextBox 3"/>
          <p:cNvSpPr txBox="1"/>
          <p:nvPr/>
        </p:nvSpPr>
        <p:spPr>
          <a:xfrm>
            <a:off x="457200" y="731520"/>
            <a:ext cx="11277295" cy="731520"/>
          </a:xfrm>
          <a:prstGeom prst="rect">
            <a:avLst/>
          </a:prstGeom>
          <a:noFill/>
        </p:spPr>
        <p:txBody>
          <a:bodyPr wrap="square" lIns="0" tIns="0" rIns="0" bIns="0">
            <a:spAutoFit/>
          </a:bodyPr>
          <a:lstStyle/>
          <a:p>
            <a:pPr>
              <a:defRPr sz="2800" b="1">
                <a:solidFill>
                  <a:srgbClr val="1A237E"/>
                </a:solidFill>
                <a:latin typeface="Arial"/>
              </a:defRPr>
            </a:pPr>
            <a:r>
              <a:t>Radiation Hardening by Design (RHBD) Strategy</a:t>
            </a:r>
          </a:p>
        </p:txBody>
      </p:sp>
      <p:sp>
        <p:nvSpPr>
          <p:cNvPr id="5" name="TextBox 4"/>
          <p:cNvSpPr txBox="1"/>
          <p:nvPr/>
        </p:nvSpPr>
        <p:spPr>
          <a:xfrm>
            <a:off x="457200" y="1645920"/>
            <a:ext cx="5486400" cy="4572000"/>
          </a:xfrm>
          <a:prstGeom prst="rect">
            <a:avLst/>
          </a:prstGeom>
          <a:noFill/>
        </p:spPr>
        <p:txBody>
          <a:bodyPr wrap="square">
            <a:spAutoFit/>
          </a:bodyPr>
          <a:lstStyle/>
          <a:p>
            <a:pPr>
              <a:spcAft>
                <a:spcPts val="1400"/>
              </a:spcAft>
              <a:defRPr sz="2000" b="1">
                <a:solidFill>
                  <a:srgbClr val="1A237E"/>
                </a:solidFill>
                <a:latin typeface="Arial"/>
              </a:defRPr>
            </a:pPr>
            <a:r>
              <a:t>Reliability in Space Environments</a:t>
            </a:r>
          </a:p>
          <a:p>
            <a:pPr>
              <a:spcAft>
                <a:spcPts val="1400"/>
              </a:spcAft>
              <a:defRPr sz="1300">
                <a:solidFill>
                  <a:srgbClr val="212121"/>
                </a:solidFill>
                <a:latin typeface="Arial"/>
              </a:defRPr>
            </a:pPr>
            <a:r>
              <a:t>Space radiation causes Single Event Upsets (SEUs), where high-energy particles randomly flip bits in flip-flops. We implement a multi-layered defense to achieve a highly reliable ASIC.</a:t>
            </a:r>
          </a:p>
          <a:p>
            <a:pPr>
              <a:spcAft>
                <a:spcPts val="1000"/>
              </a:spcAft>
              <a:defRPr sz="1200">
                <a:solidFill>
                  <a:srgbClr val="212121"/>
                </a:solidFill>
                <a:latin typeface="Arial"/>
              </a:defRPr>
            </a:pPr>
            <a:r>
              <a:t>✔ Triple Modular Redundancy (TMR): Critical configuration registers (thresholds, Goertzel coefficients), FSM state registers, and the Axis Sequencer index are triplicated.</a:t>
            </a:r>
          </a:p>
          <a:p>
            <a:pPr>
              <a:spcAft>
                <a:spcPts val="1000"/>
              </a:spcAft>
              <a:defRPr sz="1200">
                <a:solidFill>
                  <a:srgbClr val="212121"/>
                </a:solidFill>
                <a:latin typeface="Arial"/>
              </a:defRPr>
            </a:pPr>
            <a:r>
              <a:t>✔ Majority Voting: In-line voters continuously resolve the three copies. Any single-bit flip is masked in a single clock cycle without interrupting operations.</a:t>
            </a:r>
          </a:p>
          <a:p>
            <a:pPr>
              <a:spcAft>
                <a:spcPts val="1000"/>
              </a:spcAft>
              <a:defRPr sz="1200">
                <a:solidFill>
                  <a:srgbClr val="212121"/>
                </a:solidFill>
                <a:latin typeface="Arial"/>
              </a:defRPr>
            </a:pPr>
            <a:r>
              <a:t>✔ Background Scrubbing (Module 4): A dedicated periodic scrubber continuously checks register copies in the background and rewrites corrupted bits, preventing error accumulation.</a:t>
            </a:r>
          </a:p>
        </p:txBody>
      </p:sp>
      <p:sp>
        <p:nvSpPr>
          <p:cNvPr id="6" name="Rounded Rectangle 5"/>
          <p:cNvSpPr/>
          <p:nvPr/>
        </p:nvSpPr>
        <p:spPr>
          <a:xfrm>
            <a:off x="6339535" y="1645920"/>
            <a:ext cx="5394960" cy="4572000"/>
          </a:xfrm>
          <a:prstGeom prst="roundRect">
            <a:avLst/>
          </a:prstGeom>
          <a:solidFill>
            <a:srgbClr val="F8F9FA"/>
          </a:solidFill>
          <a:ln w="1905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13855" y="1828800"/>
            <a:ext cx="4846320" cy="4206240"/>
          </a:xfrm>
          <a:prstGeom prst="rect">
            <a:avLst/>
          </a:prstGeom>
          <a:noFill/>
        </p:spPr>
        <p:txBody>
          <a:bodyPr wrap="square">
            <a:spAutoFit/>
          </a:bodyPr>
          <a:lstStyle/>
          <a:p>
            <a:pPr>
              <a:spcAft>
                <a:spcPts val="1200"/>
              </a:spcAft>
              <a:defRPr sz="1800" b="1">
                <a:solidFill>
                  <a:srgbClr val="1A237E"/>
                </a:solidFill>
                <a:latin typeface="Arial"/>
              </a:defRPr>
            </a:pPr>
            <a:r>
              <a:t>SRAM-Free &amp; Physical Layout Hardening</a:t>
            </a:r>
          </a:p>
          <a:p>
            <a:pPr>
              <a:spcAft>
                <a:spcPts val="1000"/>
              </a:spcAft>
              <a:defRPr sz="1200">
                <a:solidFill>
                  <a:srgbClr val="212121"/>
                </a:solidFill>
                <a:latin typeface="Arial"/>
              </a:defRPr>
            </a:pPr>
            <a:r>
              <a:t>• SRAM-Free Architecture: Standard SRAM cells are highly sensitive to radiation. By storing all system configurations and DSP states in triplicated flip-flops, we eliminate memory-upset vulnerabilities.</a:t>
            </a:r>
          </a:p>
          <a:p>
            <a:pPr>
              <a:spcAft>
                <a:spcPts val="1000"/>
              </a:spcAft>
              <a:defRPr sz="1200">
                <a:solidFill>
                  <a:srgbClr val="212121"/>
                </a:solidFill>
                <a:latin typeface="Arial"/>
              </a:defRPr>
            </a:pPr>
            <a:r>
              <a:t>• Substrate Taps &amp; Guard Rings: Layout is constrained with dense substrate taps and physical guard rings surrounding active wells. This prevents Single Event Latch-up (SEL) conditions.</a:t>
            </a:r>
          </a:p>
          <a:p>
            <a:pPr>
              <a:spcAft>
                <a:spcPts val="1000"/>
              </a:spcAft>
              <a:defRPr sz="1200">
                <a:solidFill>
                  <a:srgbClr val="212121"/>
                </a:solidFill>
                <a:latin typeface="Arial"/>
              </a:defRPr>
            </a:pPr>
            <a:r>
              <a:t>• Interleaved Routing: Critical redundant signals are physically separated during routing to prevent a single particle strike from corrupting multiple copies (Common Cause Failure).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112772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1277295" cy="274320"/>
          </a:xfrm>
          <a:prstGeom prst="rect">
            <a:avLst/>
          </a:prstGeom>
          <a:noFill/>
        </p:spPr>
        <p:txBody>
          <a:bodyPr wrap="square" lIns="0" tIns="0" rIns="0" bIns="0">
            <a:spAutoFit/>
          </a:bodyPr>
          <a:lstStyle/>
          <a:p>
            <a:pPr>
              <a:defRPr sz="1000" b="1">
                <a:solidFill>
                  <a:srgbClr val="00796B"/>
                </a:solidFill>
                <a:latin typeface="Arial"/>
              </a:defRPr>
            </a:pPr>
            <a:r>
              <a:t>SPACE-GRADE MECHANICAL FAULT DETECTOR</a:t>
            </a:r>
          </a:p>
        </p:txBody>
      </p:sp>
      <p:sp>
        <p:nvSpPr>
          <p:cNvPr id="4" name="TextBox 3"/>
          <p:cNvSpPr txBox="1"/>
          <p:nvPr/>
        </p:nvSpPr>
        <p:spPr>
          <a:xfrm>
            <a:off x="457200" y="731520"/>
            <a:ext cx="11277295" cy="731520"/>
          </a:xfrm>
          <a:prstGeom prst="rect">
            <a:avLst/>
          </a:prstGeom>
          <a:noFill/>
        </p:spPr>
        <p:txBody>
          <a:bodyPr wrap="square" lIns="0" tIns="0" rIns="0" bIns="0">
            <a:spAutoFit/>
          </a:bodyPr>
          <a:lstStyle/>
          <a:p>
            <a:pPr>
              <a:defRPr sz="2800" b="1">
                <a:solidFill>
                  <a:srgbClr val="1A237E"/>
                </a:solidFill>
                <a:latin typeface="Arial"/>
              </a:defRPr>
            </a:pPr>
            <a:r>
              <a:t>Critical Area Constraint &amp; Trade-off Options</a:t>
            </a:r>
          </a:p>
        </p:txBody>
      </p:sp>
      <p:sp>
        <p:nvSpPr>
          <p:cNvPr id="5" name="TextBox 4"/>
          <p:cNvSpPr txBox="1"/>
          <p:nvPr/>
        </p:nvSpPr>
        <p:spPr>
          <a:xfrm>
            <a:off x="457200" y="1645920"/>
            <a:ext cx="11277295" cy="1097280"/>
          </a:xfrm>
          <a:prstGeom prst="rect">
            <a:avLst/>
          </a:prstGeom>
          <a:noFill/>
        </p:spPr>
        <p:txBody>
          <a:bodyPr wrap="square">
            <a:spAutoFit/>
          </a:bodyPr>
          <a:lstStyle/>
          <a:p>
            <a:pPr>
              <a:spcAft>
                <a:spcPts val="800"/>
              </a:spcAft>
              <a:defRPr sz="2000" b="1">
                <a:solidFill>
                  <a:srgbClr val="1A237E"/>
                </a:solidFill>
                <a:latin typeface="Arial"/>
              </a:defRPr>
            </a:pPr>
            <a:r>
              <a:t>The Engineering Challenge: Multi-Axis vs. Area</a:t>
            </a:r>
          </a:p>
          <a:p>
            <a:pPr>
              <a:defRPr sz="1300">
                <a:solidFill>
                  <a:srgbClr val="212121"/>
                </a:solidFill>
                <a:latin typeface="Arial"/>
              </a:defRPr>
            </a:pPr>
            <a:r>
              <a:t>The IIS3DWB sensor outputs all three axes (X, Y, Z) simultaneously. However, the Chipathon die area is strictly capped at 600×600 µm. We evaluated three architectural solutions to balance area, speed, and reliability:</a:t>
            </a:r>
          </a:p>
        </p:txBody>
      </p:sp>
      <p:graphicFrame>
        <p:nvGraphicFramePr>
          <p:cNvPr id="6" name="Table 5"/>
          <p:cNvGraphicFramePr>
            <a:graphicFrameLocks noGrp="1"/>
          </p:cNvGraphicFramePr>
          <p:nvPr/>
        </p:nvGraphicFramePr>
        <p:xfrm>
          <a:off x="457200" y="2926080"/>
          <a:ext cx="11277295" cy="2011680"/>
        </p:xfrm>
        <a:graphic>
          <a:graphicData uri="http://schemas.openxmlformats.org/drawingml/2006/table">
            <a:tbl>
              <a:tblPr firstRow="1" bandRow="1">
                <a:tableStyleId>{5C22544A-7EE6-4342-B048-85BDC9FD1C3A}</a:tableStyleId>
              </a:tblPr>
              <a:tblGrid>
                <a:gridCol w="1371600"/>
                <a:gridCol w="3474720"/>
                <a:gridCol w="1828800"/>
                <a:gridCol w="2286000"/>
                <a:gridCol w="2316175"/>
              </a:tblGrid>
              <a:tr h="502920">
                <a:tc>
                  <a:txBody>
                    <a:bodyPr/>
                    <a:lstStyle/>
                    <a:p>
                      <a:pPr algn="ctr">
                        <a:defRPr sz="1200" b="1">
                          <a:solidFill>
                            <a:srgbClr val="FFFFFF"/>
                          </a:solidFill>
                          <a:latin typeface="Arial"/>
                        </a:defRPr>
                      </a:pPr>
                      <a:r>
                        <a:t>Option</a:t>
                      </a:r>
                    </a:p>
                  </a:txBody>
                  <a:tcPr>
                    <a:solidFill>
                      <a:srgbClr val="1A237E"/>
                    </a:solidFill>
                  </a:tcPr>
                </a:tc>
                <a:tc>
                  <a:txBody>
                    <a:bodyPr/>
                    <a:lstStyle/>
                    <a:p>
                      <a:pPr algn="ctr">
                        <a:defRPr sz="1200" b="1">
                          <a:solidFill>
                            <a:srgbClr val="FFFFFF"/>
                          </a:solidFill>
                          <a:latin typeface="Arial"/>
                        </a:defRPr>
                      </a:pPr>
                      <a:r>
                        <a:t>Approach</a:t>
                      </a:r>
                    </a:p>
                  </a:txBody>
                  <a:tcPr>
                    <a:solidFill>
                      <a:srgbClr val="1A237E"/>
                    </a:solidFill>
                  </a:tcPr>
                </a:tc>
                <a:tc>
                  <a:txBody>
                    <a:bodyPr/>
                    <a:lstStyle/>
                    <a:p>
                      <a:pPr algn="ctr">
                        <a:defRPr sz="1200" b="1">
                          <a:solidFill>
                            <a:srgbClr val="FFFFFF"/>
                          </a:solidFill>
                          <a:latin typeface="Arial"/>
                        </a:defRPr>
                      </a:pPr>
                      <a:r>
                        <a:t>Area Impact</a:t>
                      </a:r>
                    </a:p>
                  </a:txBody>
                  <a:tcPr>
                    <a:solidFill>
                      <a:srgbClr val="1A237E"/>
                    </a:solidFill>
                  </a:tcPr>
                </a:tc>
                <a:tc>
                  <a:txBody>
                    <a:bodyPr/>
                    <a:lstStyle/>
                    <a:p>
                      <a:pPr algn="ctr">
                        <a:defRPr sz="1200" b="1">
                          <a:solidFill>
                            <a:srgbClr val="FFFFFF"/>
                          </a:solidFill>
                          <a:latin typeface="Arial"/>
                        </a:defRPr>
                      </a:pPr>
                      <a:r>
                        <a:t>Latency (3-Axis)</a:t>
                      </a:r>
                    </a:p>
                  </a:txBody>
                  <a:tcPr>
                    <a:solidFill>
                      <a:srgbClr val="1A237E"/>
                    </a:solidFill>
                  </a:tcPr>
                </a:tc>
                <a:tc>
                  <a:txBody>
                    <a:bodyPr/>
                    <a:lstStyle/>
                    <a:p>
                      <a:pPr algn="ctr">
                        <a:defRPr sz="1200" b="1">
                          <a:solidFill>
                            <a:srgbClr val="FFFFFF"/>
                          </a:solidFill>
                          <a:latin typeface="Arial"/>
                        </a:defRPr>
                      </a:pPr>
                      <a:r>
                        <a:t>Status / Verdict</a:t>
                      </a:r>
                    </a:p>
                  </a:txBody>
                  <a:tcPr>
                    <a:solidFill>
                      <a:srgbClr val="1A237E"/>
                    </a:solidFill>
                  </a:tcPr>
                </a:tc>
              </a:tr>
              <a:tr h="502920">
                <a:tc>
                  <a:txBody>
                    <a:bodyPr/>
                    <a:lstStyle/>
                    <a:p>
                      <a:pPr algn="ctr">
                        <a:defRPr sz="1100">
                          <a:solidFill>
                            <a:srgbClr val="212121"/>
                          </a:solidFill>
                          <a:latin typeface="Arial"/>
                        </a:defRPr>
                      </a:pPr>
                      <a:r>
                        <a:t>Option 1</a:t>
                      </a:r>
                    </a:p>
                  </a:txBody>
                  <a:tcPr>
                    <a:solidFill>
                      <a:srgbClr val="F8F9FA"/>
                    </a:solidFill>
                  </a:tcPr>
                </a:tc>
                <a:tc>
                  <a:txBody>
                    <a:bodyPr/>
                    <a:lstStyle/>
                    <a:p>
                      <a:pPr algn="l">
                        <a:defRPr sz="1100">
                          <a:solidFill>
                            <a:srgbClr val="212121"/>
                          </a:solidFill>
                          <a:latin typeface="Arial"/>
                        </a:defRPr>
                      </a:pPr>
                      <a:r>
                        <a:t>Parallel 3-Axis DSP Cores</a:t>
                      </a:r>
                    </a:p>
                  </a:txBody>
                  <a:tcPr>
                    <a:solidFill>
                      <a:srgbClr val="F8F9FA"/>
                    </a:solidFill>
                  </a:tcPr>
                </a:tc>
                <a:tc>
                  <a:txBody>
                    <a:bodyPr/>
                    <a:lstStyle/>
                    <a:p>
                      <a:pPr algn="ctr">
                        <a:defRPr sz="1100">
                          <a:solidFill>
                            <a:srgbClr val="212121"/>
                          </a:solidFill>
                          <a:latin typeface="Arial"/>
                        </a:defRPr>
                      </a:pPr>
                      <a:r>
                        <a:t>+300 FFs (triplicated)</a:t>
                      </a:r>
                    </a:p>
                  </a:txBody>
                  <a:tcPr>
                    <a:solidFill>
                      <a:srgbClr val="F8F9FA"/>
                    </a:solidFill>
                  </a:tcPr>
                </a:tc>
                <a:tc>
                  <a:txBody>
                    <a:bodyPr/>
                    <a:lstStyle/>
                    <a:p>
                      <a:pPr algn="ctr">
                        <a:defRPr sz="1100">
                          <a:solidFill>
                            <a:srgbClr val="212121"/>
                          </a:solidFill>
                          <a:latin typeface="Arial"/>
                        </a:defRPr>
                      </a:pPr>
                      <a:r>
                        <a:t>19.2 ms</a:t>
                      </a:r>
                    </a:p>
                  </a:txBody>
                  <a:tcPr>
                    <a:solidFill>
                      <a:srgbClr val="F8F9FA"/>
                    </a:solidFill>
                  </a:tcPr>
                </a:tc>
                <a:tc>
                  <a:txBody>
                    <a:bodyPr/>
                    <a:lstStyle/>
                    <a:p>
                      <a:pPr algn="l">
                        <a:defRPr sz="1100" b="1">
                          <a:solidFill>
                            <a:srgbClr val="FF6F00"/>
                          </a:solidFill>
                          <a:latin typeface="Arial"/>
                        </a:defRPr>
                      </a:pPr>
                      <a:r>
                        <a:t>❌ Exceeds 600×600 µm die limit</a:t>
                      </a:r>
                    </a:p>
                  </a:txBody>
                  <a:tcPr>
                    <a:solidFill>
                      <a:srgbClr val="F8F9FA"/>
                    </a:solidFill>
                  </a:tcPr>
                </a:tc>
              </a:tr>
              <a:tr h="502920">
                <a:tc>
                  <a:txBody>
                    <a:bodyPr/>
                    <a:lstStyle/>
                    <a:p>
                      <a:pPr algn="ctr">
                        <a:defRPr sz="1100">
                          <a:solidFill>
                            <a:srgbClr val="212121"/>
                          </a:solidFill>
                          <a:latin typeface="Arial"/>
                        </a:defRPr>
                      </a:pPr>
                      <a:r>
                        <a:t>Option 2</a:t>
                      </a:r>
                    </a:p>
                  </a:txBody>
                  <a:tcPr>
                    <a:solidFill>
                      <a:srgbClr val="F8F9FA"/>
                    </a:solidFill>
                  </a:tcPr>
                </a:tc>
                <a:tc>
                  <a:txBody>
                    <a:bodyPr/>
                    <a:lstStyle/>
                    <a:p>
                      <a:pPr algn="l">
                        <a:defRPr sz="1100">
                          <a:solidFill>
                            <a:srgbClr val="212121"/>
                          </a:solidFill>
                          <a:latin typeface="Arial"/>
                        </a:defRPr>
                      </a:pPr>
                      <a:r>
                        <a:t>Raw Sample Buffer (512×48-bit)</a:t>
                      </a:r>
                    </a:p>
                  </a:txBody>
                  <a:tcPr>
                    <a:solidFill>
                      <a:srgbClr val="F8F9FA"/>
                    </a:solidFill>
                  </a:tcPr>
                </a:tc>
                <a:tc>
                  <a:txBody>
                    <a:bodyPr/>
                    <a:lstStyle/>
                    <a:p>
                      <a:pPr algn="ctr">
                        <a:defRPr sz="1100">
                          <a:solidFill>
                            <a:srgbClr val="212121"/>
                          </a:solidFill>
                          <a:latin typeface="Arial"/>
                        </a:defRPr>
                      </a:pPr>
                      <a:r>
                        <a:t>+3,072 FFs</a:t>
                      </a:r>
                    </a:p>
                  </a:txBody>
                  <a:tcPr>
                    <a:solidFill>
                      <a:srgbClr val="F8F9FA"/>
                    </a:solidFill>
                  </a:tcPr>
                </a:tc>
                <a:tc>
                  <a:txBody>
                    <a:bodyPr/>
                    <a:lstStyle/>
                    <a:p>
                      <a:pPr algn="ctr">
                        <a:defRPr sz="1100">
                          <a:solidFill>
                            <a:srgbClr val="212121"/>
                          </a:solidFill>
                          <a:latin typeface="Arial"/>
                        </a:defRPr>
                      </a:pPr>
                      <a:r>
                        <a:t>57.6 ms</a:t>
                      </a:r>
                    </a:p>
                  </a:txBody>
                  <a:tcPr>
                    <a:solidFill>
                      <a:srgbClr val="F8F9FA"/>
                    </a:solidFill>
                  </a:tcPr>
                </a:tc>
                <a:tc>
                  <a:txBody>
                    <a:bodyPr/>
                    <a:lstStyle/>
                    <a:p>
                      <a:pPr algn="l">
                        <a:defRPr sz="1100" b="1">
                          <a:solidFill>
                            <a:srgbClr val="FF6F00"/>
                          </a:solidFill>
                          <a:latin typeface="Arial"/>
                        </a:defRPr>
                      </a:pPr>
                      <a:r>
                        <a:t>❌ Violates SRAM-Free/RHBD rules</a:t>
                      </a:r>
                    </a:p>
                  </a:txBody>
                  <a:tcPr>
                    <a:solidFill>
                      <a:srgbClr val="F8F9FA"/>
                    </a:solidFill>
                  </a:tcPr>
                </a:tc>
              </a:tr>
              <a:tr h="502920">
                <a:tc>
                  <a:txBody>
                    <a:bodyPr/>
                    <a:lstStyle/>
                    <a:p>
                      <a:pPr algn="ctr">
                        <a:defRPr sz="1100">
                          <a:solidFill>
                            <a:srgbClr val="212121"/>
                          </a:solidFill>
                          <a:latin typeface="Arial"/>
                        </a:defRPr>
                      </a:pPr>
                      <a:r>
                        <a:t>Option 3</a:t>
                      </a:r>
                    </a:p>
                  </a:txBody>
                  <a:tcPr>
                    <a:solidFill>
                      <a:srgbClr val="E0F2F1"/>
                    </a:solidFill>
                  </a:tcPr>
                </a:tc>
                <a:tc>
                  <a:txBody>
                    <a:bodyPr/>
                    <a:lstStyle/>
                    <a:p>
                      <a:pPr algn="l">
                        <a:defRPr sz="1100">
                          <a:solidFill>
                            <a:srgbClr val="212121"/>
                          </a:solidFill>
                          <a:latin typeface="Arial"/>
                        </a:defRPr>
                      </a:pPr>
                      <a:r>
                        <a:t>Reduced BLOCK_SIZE (512 → 171)</a:t>
                      </a:r>
                    </a:p>
                  </a:txBody>
                  <a:tcPr>
                    <a:solidFill>
                      <a:srgbClr val="E0F2F1"/>
                    </a:solidFill>
                  </a:tcPr>
                </a:tc>
                <a:tc>
                  <a:txBody>
                    <a:bodyPr/>
                    <a:lstStyle/>
                    <a:p>
                      <a:pPr algn="ctr">
                        <a:defRPr sz="1100">
                          <a:solidFill>
                            <a:srgbClr val="212121"/>
                          </a:solidFill>
                          <a:latin typeface="Arial"/>
                        </a:defRPr>
                      </a:pPr>
                      <a:r>
                        <a:t>-3 FFs (Net Savings)</a:t>
                      </a:r>
                    </a:p>
                  </a:txBody>
                  <a:tcPr>
                    <a:solidFill>
                      <a:srgbClr val="E0F2F1"/>
                    </a:solidFill>
                  </a:tcPr>
                </a:tc>
                <a:tc>
                  <a:txBody>
                    <a:bodyPr/>
                    <a:lstStyle/>
                    <a:p>
                      <a:pPr algn="ctr">
                        <a:defRPr sz="1100">
                          <a:solidFill>
                            <a:srgbClr val="212121"/>
                          </a:solidFill>
                          <a:latin typeface="Arial"/>
                        </a:defRPr>
                      </a:pPr>
                      <a:r>
                        <a:t>19.2 ms</a:t>
                      </a:r>
                    </a:p>
                  </a:txBody>
                  <a:tcPr>
                    <a:solidFill>
                      <a:srgbClr val="E0F2F1"/>
                    </a:solidFill>
                  </a:tcPr>
                </a:tc>
                <a:tc>
                  <a:txBody>
                    <a:bodyPr/>
                    <a:lstStyle/>
                    <a:p>
                      <a:pPr algn="l">
                        <a:defRPr sz="1100" b="1">
                          <a:solidFill>
                            <a:srgbClr val="00796B"/>
                          </a:solidFill>
                          <a:latin typeface="Arial"/>
                        </a:defRPr>
                      </a:pPr>
                      <a:r>
                        <a:t>✅ SELECTED OPTIMIZATION</a:t>
                      </a:r>
                    </a:p>
                  </a:txBody>
                  <a:tcPr>
                    <a:solidFill>
                      <a:srgbClr val="E0F2F1"/>
                    </a:solidFill>
                  </a:tcPr>
                </a:tc>
              </a:tr>
            </a:tbl>
          </a:graphicData>
        </a:graphic>
      </p:graphicFrame>
      <p:sp>
        <p:nvSpPr>
          <p:cNvPr id="7" name="TextBox 6"/>
          <p:cNvSpPr txBox="1"/>
          <p:nvPr/>
        </p:nvSpPr>
        <p:spPr>
          <a:xfrm>
            <a:off x="457200" y="5120640"/>
            <a:ext cx="11277295" cy="1097280"/>
          </a:xfrm>
          <a:prstGeom prst="rect">
            <a:avLst/>
          </a:prstGeom>
          <a:noFill/>
        </p:spPr>
        <p:txBody>
          <a:bodyPr wrap="square">
            <a:spAutoFit/>
          </a:bodyPr>
          <a:lstStyle/>
          <a:p>
            <a:pPr>
              <a:defRPr sz="1200" b="1">
                <a:solidFill>
                  <a:srgbClr val="00796B"/>
                </a:solidFill>
                <a:latin typeface="Arial"/>
              </a:defRPr>
            </a:pPr>
            <a:r>
              <a:t>Selected Optimization: Option 3 (BLOCK_SIZE = 171)</a:t>
            </a:r>
            <a:br/>
            <a:r>
              <a:t>By reducing the block size, we achieve a three-fold latency improvement, save register logic (reducing the block counter from 9 to 8 bits), and fit comfortably within the 600×600 µm layout constraint with zero area overhead.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112772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1277295" cy="274320"/>
          </a:xfrm>
          <a:prstGeom prst="rect">
            <a:avLst/>
          </a:prstGeom>
          <a:noFill/>
        </p:spPr>
        <p:txBody>
          <a:bodyPr wrap="square" lIns="0" tIns="0" rIns="0" bIns="0">
            <a:spAutoFit/>
          </a:bodyPr>
          <a:lstStyle/>
          <a:p>
            <a:pPr>
              <a:defRPr sz="1000" b="1">
                <a:solidFill>
                  <a:srgbClr val="00796B"/>
                </a:solidFill>
                <a:latin typeface="Arial"/>
              </a:defRPr>
            </a:pPr>
            <a:r>
              <a:t>SPACE-GRADE MECHANICAL FAULT DETECTOR</a:t>
            </a:r>
          </a:p>
        </p:txBody>
      </p:sp>
      <p:sp>
        <p:nvSpPr>
          <p:cNvPr id="4" name="TextBox 3"/>
          <p:cNvSpPr txBox="1"/>
          <p:nvPr/>
        </p:nvSpPr>
        <p:spPr>
          <a:xfrm>
            <a:off x="457200" y="731520"/>
            <a:ext cx="11277295" cy="731520"/>
          </a:xfrm>
          <a:prstGeom prst="rect">
            <a:avLst/>
          </a:prstGeom>
          <a:noFill/>
        </p:spPr>
        <p:txBody>
          <a:bodyPr wrap="square" lIns="0" tIns="0" rIns="0" bIns="0">
            <a:spAutoFit/>
          </a:bodyPr>
          <a:lstStyle/>
          <a:p>
            <a:pPr>
              <a:defRPr sz="2800" b="1">
                <a:solidFill>
                  <a:srgbClr val="1A237E"/>
                </a:solidFill>
                <a:latin typeface="Arial"/>
              </a:defRPr>
            </a:pPr>
            <a:r>
              <a:t>Option 3 Implementation &amp; Trade-off Analysis</a:t>
            </a:r>
          </a:p>
        </p:txBody>
      </p:sp>
      <p:sp>
        <p:nvSpPr>
          <p:cNvPr id="5" name="TextBox 4"/>
          <p:cNvSpPr txBox="1"/>
          <p:nvPr/>
        </p:nvSpPr>
        <p:spPr>
          <a:xfrm>
            <a:off x="457200" y="1645920"/>
            <a:ext cx="5486400" cy="4572000"/>
          </a:xfrm>
          <a:prstGeom prst="rect">
            <a:avLst/>
          </a:prstGeom>
          <a:noFill/>
        </p:spPr>
        <p:txBody>
          <a:bodyPr wrap="square">
            <a:spAutoFit/>
          </a:bodyPr>
          <a:lstStyle/>
          <a:p>
            <a:pPr>
              <a:spcAft>
                <a:spcPts val="1400"/>
              </a:spcAft>
              <a:defRPr sz="1800" b="1">
                <a:solidFill>
                  <a:srgbClr val="1A237E"/>
                </a:solidFill>
                <a:latin typeface="Arial"/>
              </a:defRPr>
            </a:pPr>
            <a:r>
              <a:t>Quantitative Performance Trade-offs</a:t>
            </a:r>
          </a:p>
          <a:p>
            <a:br/>
            <a:pPr>
              <a:spcBef>
                <a:spcPts val="800"/>
              </a:spcBef>
              <a:defRPr sz="1100">
                <a:solidFill>
                  <a:srgbClr val="757575"/>
                </a:solidFill>
                <a:latin typeface="Arial"/>
              </a:defRPr>
            </a:pPr>
            <a:r>
              <a:t>Threshold Scaling Justification:</a:t>
            </a:r>
            <a:br/>
            <a:r>
              <a:t>Goertzel magnitude scales as N². Thus, changing BLOCK_SIZE from 512 to 171 requires scaling the detection threshold by (171/512)² ≈ 0.112. The testbench threshold was recalibrated from 120 to 14, maintaining mathematical consistency.</a:t>
            </a:r>
          </a:p>
        </p:txBody>
      </p:sp>
      <p:graphicFrame>
        <p:nvGraphicFramePr>
          <p:cNvPr id="6" name="Table 5"/>
          <p:cNvGraphicFramePr>
            <a:graphicFrameLocks noGrp="1"/>
          </p:cNvGraphicFramePr>
          <p:nvPr/>
        </p:nvGraphicFramePr>
        <p:xfrm>
          <a:off x="457200" y="2194560"/>
          <a:ext cx="5394960" cy="2011680"/>
        </p:xfrm>
        <a:graphic>
          <a:graphicData uri="http://schemas.openxmlformats.org/drawingml/2006/table">
            <a:tbl>
              <a:tblPr firstRow="1" bandRow="1">
                <a:tableStyleId>{5C22544A-7EE6-4342-B048-85BDC9FD1C3A}</a:tableStyleId>
              </a:tblPr>
              <a:tblGrid>
                <a:gridCol w="1828800"/>
                <a:gridCol w="1097280"/>
                <a:gridCol w="1097280"/>
                <a:gridCol w="1371600"/>
              </a:tblGrid>
              <a:tr h="402336">
                <a:tc>
                  <a:txBody>
                    <a:bodyPr/>
                    <a:lstStyle/>
                    <a:p>
                      <a:pPr algn="ctr">
                        <a:defRPr sz="1000" b="1">
                          <a:solidFill>
                            <a:srgbClr val="FFFFFF"/>
                          </a:solidFill>
                          <a:latin typeface="Arial"/>
                        </a:defRPr>
                      </a:pPr>
                      <a:r>
                        <a:t>Parameter</a:t>
                      </a:r>
                    </a:p>
                  </a:txBody>
                  <a:tcPr>
                    <a:solidFill>
                      <a:srgbClr val="1A237E"/>
                    </a:solidFill>
                  </a:tcPr>
                </a:tc>
                <a:tc>
                  <a:txBody>
                    <a:bodyPr/>
                    <a:lstStyle/>
                    <a:p>
                      <a:pPr algn="ctr">
                        <a:defRPr sz="1000" b="1">
                          <a:solidFill>
                            <a:srgbClr val="FFFFFF"/>
                          </a:solidFill>
                          <a:latin typeface="Arial"/>
                        </a:defRPr>
                      </a:pPr>
                      <a:r>
                        <a:t>Size 512</a:t>
                      </a:r>
                    </a:p>
                  </a:txBody>
                  <a:tcPr>
                    <a:solidFill>
                      <a:srgbClr val="1A237E"/>
                    </a:solidFill>
                  </a:tcPr>
                </a:tc>
                <a:tc>
                  <a:txBody>
                    <a:bodyPr/>
                    <a:lstStyle/>
                    <a:p>
                      <a:pPr algn="ctr">
                        <a:defRPr sz="1000" b="1">
                          <a:solidFill>
                            <a:srgbClr val="FFFFFF"/>
                          </a:solidFill>
                          <a:latin typeface="Arial"/>
                        </a:defRPr>
                      </a:pPr>
                      <a:r>
                        <a:t>Size 171</a:t>
                      </a:r>
                    </a:p>
                  </a:txBody>
                  <a:tcPr>
                    <a:solidFill>
                      <a:srgbClr val="1A237E"/>
                    </a:solidFill>
                  </a:tcPr>
                </a:tc>
                <a:tc>
                  <a:txBody>
                    <a:bodyPr/>
                    <a:lstStyle/>
                    <a:p>
                      <a:pPr algn="ctr">
                        <a:defRPr sz="1000" b="1">
                          <a:solidFill>
                            <a:srgbClr val="FFFFFF"/>
                          </a:solidFill>
                          <a:latin typeface="Arial"/>
                        </a:defRPr>
                      </a:pPr>
                      <a:r>
                        <a:t>Impact</a:t>
                      </a:r>
                    </a:p>
                  </a:txBody>
                  <a:tcPr>
                    <a:solidFill>
                      <a:srgbClr val="1A237E"/>
                    </a:solidFill>
                  </a:tcPr>
                </a:tc>
              </a:tr>
              <a:tr h="402336">
                <a:tc>
                  <a:txBody>
                    <a:bodyPr/>
                    <a:lstStyle/>
                    <a:p>
                      <a:pPr algn="l">
                        <a:defRPr sz="1000">
                          <a:solidFill>
                            <a:srgbClr val="212121"/>
                          </a:solidFill>
                          <a:latin typeface="Arial"/>
                        </a:defRPr>
                      </a:pPr>
                      <a:r>
                        <a:t>Per-Axis Latency</a:t>
                      </a:r>
                    </a:p>
                  </a:txBody>
                  <a:tcPr>
                    <a:solidFill>
                      <a:srgbClr val="F8F9FA"/>
                    </a:solidFill>
                  </a:tcPr>
                </a:tc>
                <a:tc>
                  <a:txBody>
                    <a:bodyPr/>
                    <a:lstStyle/>
                    <a:p>
                      <a:pPr algn="ctr">
                        <a:defRPr sz="1000">
                          <a:solidFill>
                            <a:srgbClr val="212121"/>
                          </a:solidFill>
                          <a:latin typeface="Arial"/>
                        </a:defRPr>
                      </a:pPr>
                      <a:r>
                        <a:t>19.2 ms</a:t>
                      </a:r>
                    </a:p>
                  </a:txBody>
                  <a:tcPr>
                    <a:solidFill>
                      <a:srgbClr val="F8F9FA"/>
                    </a:solidFill>
                  </a:tcPr>
                </a:tc>
                <a:tc>
                  <a:txBody>
                    <a:bodyPr/>
                    <a:lstStyle/>
                    <a:p>
                      <a:pPr algn="ctr">
                        <a:defRPr sz="1000">
                          <a:solidFill>
                            <a:srgbClr val="212121"/>
                          </a:solidFill>
                          <a:latin typeface="Arial"/>
                        </a:defRPr>
                      </a:pPr>
                      <a:r>
                        <a:t>6.4 ms</a:t>
                      </a:r>
                    </a:p>
                  </a:txBody>
                  <a:tcPr>
                    <a:solidFill>
                      <a:srgbClr val="F8F9FA"/>
                    </a:solidFill>
                  </a:tcPr>
                </a:tc>
                <a:tc>
                  <a:txBody>
                    <a:bodyPr/>
                    <a:lstStyle/>
                    <a:p>
                      <a:pPr algn="ctr">
                        <a:defRPr sz="1000" b="1">
                          <a:solidFill>
                            <a:srgbClr val="00796B"/>
                          </a:solidFill>
                          <a:latin typeface="Arial"/>
                        </a:defRPr>
                      </a:pPr>
                      <a:r>
                        <a:t>3× Faster Detection</a:t>
                      </a:r>
                    </a:p>
                  </a:txBody>
                  <a:tcPr>
                    <a:solidFill>
                      <a:srgbClr val="F8F9FA"/>
                    </a:solidFill>
                  </a:tcPr>
                </a:tc>
              </a:tr>
              <a:tr h="402336">
                <a:tc>
                  <a:txBody>
                    <a:bodyPr/>
                    <a:lstStyle/>
                    <a:p>
                      <a:pPr algn="l">
                        <a:defRPr sz="1000">
                          <a:solidFill>
                            <a:srgbClr val="212121"/>
                          </a:solidFill>
                          <a:latin typeface="Arial"/>
                        </a:defRPr>
                      </a:pPr>
                      <a:r>
                        <a:t>Full 3-Axis Latency</a:t>
                      </a:r>
                    </a:p>
                  </a:txBody>
                  <a:tcPr>
                    <a:solidFill>
                      <a:srgbClr val="F8F9FA"/>
                    </a:solidFill>
                  </a:tcPr>
                </a:tc>
                <a:tc>
                  <a:txBody>
                    <a:bodyPr/>
                    <a:lstStyle/>
                    <a:p>
                      <a:pPr algn="ctr">
                        <a:defRPr sz="1000">
                          <a:solidFill>
                            <a:srgbClr val="212121"/>
                          </a:solidFill>
                          <a:latin typeface="Arial"/>
                        </a:defRPr>
                      </a:pPr>
                      <a:r>
                        <a:t>57.6 ms</a:t>
                      </a:r>
                    </a:p>
                  </a:txBody>
                  <a:tcPr>
                    <a:solidFill>
                      <a:srgbClr val="F8F9FA"/>
                    </a:solidFill>
                  </a:tcPr>
                </a:tc>
                <a:tc>
                  <a:txBody>
                    <a:bodyPr/>
                    <a:lstStyle/>
                    <a:p>
                      <a:pPr algn="ctr">
                        <a:defRPr sz="1000">
                          <a:solidFill>
                            <a:srgbClr val="212121"/>
                          </a:solidFill>
                          <a:latin typeface="Arial"/>
                        </a:defRPr>
                      </a:pPr>
                      <a:r>
                        <a:t>19.2 ms</a:t>
                      </a:r>
                    </a:p>
                  </a:txBody>
                  <a:tcPr>
                    <a:solidFill>
                      <a:srgbClr val="F8F9FA"/>
                    </a:solidFill>
                  </a:tcPr>
                </a:tc>
                <a:tc>
                  <a:txBody>
                    <a:bodyPr/>
                    <a:lstStyle/>
                    <a:p>
                      <a:pPr algn="ctr">
                        <a:defRPr sz="1000" b="1">
                          <a:solidFill>
                            <a:srgbClr val="00796B"/>
                          </a:solidFill>
                          <a:latin typeface="Arial"/>
                        </a:defRPr>
                      </a:pPr>
                      <a:r>
                        <a:t>3× Faster Rotation</a:t>
                      </a:r>
                    </a:p>
                  </a:txBody>
                  <a:tcPr>
                    <a:solidFill>
                      <a:srgbClr val="F8F9FA"/>
                    </a:solidFill>
                  </a:tcPr>
                </a:tc>
              </a:tr>
              <a:tr h="402336">
                <a:tc>
                  <a:txBody>
                    <a:bodyPr/>
                    <a:lstStyle/>
                    <a:p>
                      <a:pPr algn="l">
                        <a:defRPr sz="1000">
                          <a:solidFill>
                            <a:srgbClr val="212121"/>
                          </a:solidFill>
                          <a:latin typeface="Arial"/>
                        </a:defRPr>
                      </a:pPr>
                      <a:r>
                        <a:t>Bin Resolution</a:t>
                      </a:r>
                    </a:p>
                  </a:txBody>
                  <a:tcPr>
                    <a:solidFill>
                      <a:srgbClr val="F8F9FA"/>
                    </a:solidFill>
                  </a:tcPr>
                </a:tc>
                <a:tc>
                  <a:txBody>
                    <a:bodyPr/>
                    <a:lstStyle/>
                    <a:p>
                      <a:pPr algn="ctr">
                        <a:defRPr sz="1000">
                          <a:solidFill>
                            <a:srgbClr val="212121"/>
                          </a:solidFill>
                          <a:latin typeface="Arial"/>
                        </a:defRPr>
                      </a:pPr>
                      <a:r>
                        <a:t>52.1 Hz</a:t>
                      </a:r>
                    </a:p>
                  </a:txBody>
                  <a:tcPr>
                    <a:solidFill>
                      <a:srgbClr val="F8F9FA"/>
                    </a:solidFill>
                  </a:tcPr>
                </a:tc>
                <a:tc>
                  <a:txBody>
                    <a:bodyPr/>
                    <a:lstStyle/>
                    <a:p>
                      <a:pPr algn="ctr">
                        <a:defRPr sz="1000">
                          <a:solidFill>
                            <a:srgbClr val="212121"/>
                          </a:solidFill>
                          <a:latin typeface="Arial"/>
                        </a:defRPr>
                      </a:pPr>
                      <a:r>
                        <a:t>156.9 Hz</a:t>
                      </a:r>
                    </a:p>
                  </a:txBody>
                  <a:tcPr>
                    <a:solidFill>
                      <a:srgbClr val="F8F9FA"/>
                    </a:solidFill>
                  </a:tcPr>
                </a:tc>
                <a:tc>
                  <a:txBody>
                    <a:bodyPr/>
                    <a:lstStyle/>
                    <a:p>
                      <a:pPr algn="ctr">
                        <a:defRPr sz="1000" b="1">
                          <a:solidFill>
                            <a:srgbClr val="FF6F00"/>
                          </a:solidFill>
                          <a:latin typeface="Arial"/>
                        </a:defRPr>
                      </a:pPr>
                      <a:r>
                        <a:t>Coarser Bins (Accepted)</a:t>
                      </a:r>
                    </a:p>
                  </a:txBody>
                  <a:tcPr>
                    <a:solidFill>
                      <a:srgbClr val="F8F9FA"/>
                    </a:solidFill>
                  </a:tcPr>
                </a:tc>
              </a:tr>
              <a:tr h="402336">
                <a:tc>
                  <a:txBody>
                    <a:bodyPr/>
                    <a:lstStyle/>
                    <a:p>
                      <a:pPr algn="l">
                        <a:defRPr sz="1000">
                          <a:solidFill>
                            <a:srgbClr val="212121"/>
                          </a:solidFill>
                          <a:latin typeface="Arial"/>
                        </a:defRPr>
                      </a:pPr>
                      <a:r>
                        <a:t>Threshold Config</a:t>
                      </a:r>
                    </a:p>
                  </a:txBody>
                  <a:tcPr>
                    <a:solidFill>
                      <a:srgbClr val="F8F9FA"/>
                    </a:solidFill>
                  </a:tcPr>
                </a:tc>
                <a:tc>
                  <a:txBody>
                    <a:bodyPr/>
                    <a:lstStyle/>
                    <a:p>
                      <a:pPr algn="ctr">
                        <a:defRPr sz="1000">
                          <a:solidFill>
                            <a:srgbClr val="212121"/>
                          </a:solidFill>
                          <a:latin typeface="Arial"/>
                        </a:defRPr>
                      </a:pPr>
                      <a:r>
                        <a:t>120</a:t>
                      </a:r>
                    </a:p>
                  </a:txBody>
                  <a:tcPr>
                    <a:solidFill>
                      <a:srgbClr val="F8F9FA"/>
                    </a:solidFill>
                  </a:tcPr>
                </a:tc>
                <a:tc>
                  <a:txBody>
                    <a:bodyPr/>
                    <a:lstStyle/>
                    <a:p>
                      <a:pPr algn="ctr">
                        <a:defRPr sz="1000">
                          <a:solidFill>
                            <a:srgbClr val="212121"/>
                          </a:solidFill>
                          <a:latin typeface="Arial"/>
                        </a:defRPr>
                      </a:pPr>
                      <a:r>
                        <a:t>14</a:t>
                      </a:r>
                    </a:p>
                  </a:txBody>
                  <a:tcPr>
                    <a:solidFill>
                      <a:srgbClr val="F8F9FA"/>
                    </a:solidFill>
                  </a:tcPr>
                </a:tc>
                <a:tc>
                  <a:txBody>
                    <a:bodyPr/>
                    <a:lstStyle/>
                    <a:p>
                      <a:pPr algn="ctr">
                        <a:defRPr sz="1000" b="1">
                          <a:solidFill>
                            <a:srgbClr val="FF6F00"/>
                          </a:solidFill>
                          <a:latin typeface="Arial"/>
                        </a:defRPr>
                      </a:pPr>
                      <a:r>
                        <a:t>Scaled by N² factor</a:t>
                      </a:r>
                    </a:p>
                  </a:txBody>
                  <a:tcPr>
                    <a:solidFill>
                      <a:srgbClr val="F8F9FA"/>
                    </a:solidFill>
                  </a:tcPr>
                </a:tc>
              </a:tr>
            </a:tbl>
          </a:graphicData>
        </a:graphic>
      </p:graphicFrame>
      <p:sp>
        <p:nvSpPr>
          <p:cNvPr id="7" name="Rounded Rectangle 6"/>
          <p:cNvSpPr/>
          <p:nvPr/>
        </p:nvSpPr>
        <p:spPr>
          <a:xfrm>
            <a:off x="6339535" y="1645920"/>
            <a:ext cx="5394960" cy="4572000"/>
          </a:xfrm>
          <a:prstGeom prst="roundRect">
            <a:avLst/>
          </a:prstGeom>
          <a:solidFill>
            <a:srgbClr val="E0F2F1"/>
          </a:solidFill>
          <a:ln w="19050">
            <a:solidFill>
              <a:srgbClr val="007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13855" y="1828800"/>
            <a:ext cx="4846320" cy="4206240"/>
          </a:xfrm>
          <a:prstGeom prst="rect">
            <a:avLst/>
          </a:prstGeom>
          <a:noFill/>
        </p:spPr>
        <p:txBody>
          <a:bodyPr wrap="square">
            <a:spAutoFit/>
          </a:bodyPr>
          <a:lstStyle/>
          <a:p>
            <a:pPr>
              <a:spcAft>
                <a:spcPts val="1200"/>
              </a:spcAft>
              <a:defRPr sz="1800" b="1">
                <a:solidFill>
                  <a:srgbClr val="1A237E"/>
                </a:solidFill>
                <a:latin typeface="Arial"/>
              </a:defRPr>
            </a:pPr>
            <a:r>
              <a:t>Accepted Limitations &amp; Justification</a:t>
            </a:r>
          </a:p>
          <a:p>
            <a:pPr>
              <a:spcAft>
                <a:spcPts val="1000"/>
              </a:spcAft>
              <a:defRPr sz="1200">
                <a:solidFill>
                  <a:srgbClr val="212121"/>
                </a:solidFill>
                <a:latin typeface="Arial"/>
              </a:defRPr>
            </a:pPr>
            <a:r>
              <a:t>1. Sequential Processing Data Loss:</a:t>
            </a:r>
            <a:br/>
            <a:r>
              <a:t>Processing axes sequentially means 2 out of 3 axes are discarded during a block's acquisition window (66.7% data loss per sample).</a:t>
            </a:r>
          </a:p>
          <a:p>
            <a:pPr>
              <a:spcAft>
                <a:spcPts val="1000"/>
              </a:spcAft>
              <a:defRPr sz="1200">
                <a:solidFill>
                  <a:srgbClr val="212121"/>
                </a:solidFill>
                <a:latin typeface="Arial"/>
              </a:defRPr>
            </a:pPr>
            <a:r>
              <a:t>2. Intermittent Fault Coverage:</a:t>
            </a:r>
            <a:br/>
            <a:r>
              <a:t>Because the DSP engine rotates X → Y → Z, it cannot detect simultaneous multi-axis faults occurring inside the same 6.4 ms window.</a:t>
            </a:r>
          </a:p>
          <a:p>
            <a:pPr>
              <a:spcAft>
                <a:spcPts val="1000"/>
              </a:spcAft>
              <a:defRPr sz="1200">
                <a:solidFill>
                  <a:srgbClr val="212121"/>
                </a:solidFill>
                <a:latin typeface="Arial"/>
              </a:defRPr>
            </a:pPr>
            <a:r>
              <a:t>3. Justification for Spacecraft Applications:</a:t>
            </a:r>
            <a:br/>
            <a:r>
              <a:t>Mechanical failures (bearing wear, pump fatigue) degrade slowly over hours or days, not milliseconds. A 19.2 ms full-axis rotation time is orders of magnitude faster than physical fault progression. Option 3 is highly sufficient for the target application.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112772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1277295" cy="274320"/>
          </a:xfrm>
          <a:prstGeom prst="rect">
            <a:avLst/>
          </a:prstGeom>
          <a:noFill/>
        </p:spPr>
        <p:txBody>
          <a:bodyPr wrap="square" lIns="0" tIns="0" rIns="0" bIns="0">
            <a:spAutoFit/>
          </a:bodyPr>
          <a:lstStyle/>
          <a:p>
            <a:pPr>
              <a:defRPr sz="1000" b="1">
                <a:solidFill>
                  <a:srgbClr val="00796B"/>
                </a:solidFill>
                <a:latin typeface="Arial"/>
              </a:defRPr>
            </a:pPr>
            <a:r>
              <a:t>SPACE-GRADE MECHANICAL FAULT DETECTOR</a:t>
            </a:r>
          </a:p>
        </p:txBody>
      </p:sp>
      <p:sp>
        <p:nvSpPr>
          <p:cNvPr id="4" name="TextBox 3"/>
          <p:cNvSpPr txBox="1"/>
          <p:nvPr/>
        </p:nvSpPr>
        <p:spPr>
          <a:xfrm>
            <a:off x="457200" y="731520"/>
            <a:ext cx="11277295" cy="731520"/>
          </a:xfrm>
          <a:prstGeom prst="rect">
            <a:avLst/>
          </a:prstGeom>
          <a:noFill/>
        </p:spPr>
        <p:txBody>
          <a:bodyPr wrap="square" lIns="0" tIns="0" rIns="0" bIns="0">
            <a:spAutoFit/>
          </a:bodyPr>
          <a:lstStyle/>
          <a:p>
            <a:pPr>
              <a:defRPr sz="2800" b="1">
                <a:solidFill>
                  <a:srgbClr val="1A237E"/>
                </a:solidFill>
                <a:latin typeface="Arial"/>
              </a:defRPr>
            </a:pPr>
            <a:r>
              <a:t>Comprehensive Verification &amp; Regression Testing</a:t>
            </a:r>
          </a:p>
        </p:txBody>
      </p:sp>
      <p:sp>
        <p:nvSpPr>
          <p:cNvPr id="5" name="TextBox 4"/>
          <p:cNvSpPr txBox="1"/>
          <p:nvPr/>
        </p:nvSpPr>
        <p:spPr>
          <a:xfrm>
            <a:off x="457200" y="1645920"/>
            <a:ext cx="11277295" cy="731520"/>
          </a:xfrm>
          <a:prstGeom prst="rect">
            <a:avLst/>
          </a:prstGeom>
          <a:noFill/>
        </p:spPr>
        <p:txBody>
          <a:bodyPr wrap="square">
            <a:spAutoFit/>
          </a:bodyPr>
          <a:lstStyle/>
          <a:p>
            <a:pPr>
              <a:spcAft>
                <a:spcPts val="400"/>
              </a:spcAft>
              <a:defRPr sz="2000" b="1">
                <a:solidFill>
                  <a:srgbClr val="1A237E"/>
                </a:solidFill>
                <a:latin typeface="Arial"/>
              </a:defRPr>
            </a:pPr>
            <a:r>
              <a:t>100% Assertion Success — All 79 Verification Checks Passed</a:t>
            </a:r>
          </a:p>
          <a:p>
            <a:pPr>
              <a:defRPr sz="1200">
                <a:solidFill>
                  <a:srgbClr val="212121"/>
                </a:solidFill>
                <a:latin typeface="Arial"/>
              </a:defRPr>
            </a:pPr>
            <a:r>
              <a:t>RTL updates were validated using three automated testbench environments, confirming timing closure and math precision:</a:t>
            </a:r>
          </a:p>
        </p:txBody>
      </p:sp>
      <p:sp>
        <p:nvSpPr>
          <p:cNvPr id="6" name="Rounded Rectangle 5"/>
          <p:cNvSpPr/>
          <p:nvPr/>
        </p:nvSpPr>
        <p:spPr>
          <a:xfrm>
            <a:off x="457200" y="2468880"/>
            <a:ext cx="3474720" cy="3108960"/>
          </a:xfrm>
          <a:prstGeom prst="roundRect">
            <a:avLst/>
          </a:prstGeom>
          <a:solidFill>
            <a:srgbClr val="E0F2F1"/>
          </a:solidFill>
          <a:ln w="19050">
            <a:solidFill>
              <a:srgbClr val="007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651760"/>
            <a:ext cx="3108960" cy="2743200"/>
          </a:xfrm>
          <a:prstGeom prst="rect">
            <a:avLst/>
          </a:prstGeom>
          <a:noFill/>
        </p:spPr>
        <p:txBody>
          <a:bodyPr wrap="square">
            <a:spAutoFit/>
          </a:bodyPr>
          <a:lstStyle/>
          <a:p>
            <a:pPr>
              <a:spcAft>
                <a:spcPts val="1000"/>
              </a:spcAft>
              <a:defRPr sz="1400" b="1">
                <a:solidFill>
                  <a:srgbClr val="1A237E"/>
                </a:solidFill>
                <a:latin typeface="Arial"/>
              </a:defRPr>
            </a:pPr>
            <a:r>
              <a:t>Top Integration (tb_top.v)</a:t>
            </a:r>
            <a:br/>
            <a:r>
              <a:t>Result: 7 / 7 Passed ✅</a:t>
            </a:r>
          </a:p>
          <a:p>
            <a:pPr>
              <a:spcAft>
                <a:spcPts val="600"/>
              </a:spcAft>
              <a:defRPr sz="1100">
                <a:solidFill>
                  <a:srgbClr val="212121"/>
                </a:solidFill>
                <a:latin typeface="Arial"/>
              </a:defRPr>
            </a:pPr>
            <a:r>
              <a:t>• Case 1: Quiet normal operation (no false positives)</a:t>
            </a:r>
          </a:p>
          <a:p>
            <a:pPr>
              <a:spcAft>
                <a:spcPts val="600"/>
              </a:spcAft>
              <a:defRPr sz="1100">
                <a:solidFill>
                  <a:srgbClr val="212121"/>
                </a:solidFill>
                <a:latin typeface="Arial"/>
              </a:defRPr>
            </a:pPr>
            <a:r>
              <a:t>• Case 2: X-axis fault detected and flagged (axis reported == 0)</a:t>
            </a:r>
          </a:p>
          <a:p>
            <a:pPr>
              <a:spcAft>
                <a:spcPts val="600"/>
              </a:spcAft>
              <a:defRPr sz="1100">
                <a:solidFill>
                  <a:srgbClr val="212121"/>
                </a:solidFill>
                <a:latin typeface="Arial"/>
              </a:defRPr>
            </a:pPr>
            <a:r>
              <a:t>• Case 3: Y-axis fault detected and flagged (axis reported == 1)</a:t>
            </a:r>
          </a:p>
          <a:p>
            <a:pPr>
              <a:spcAft>
                <a:spcPts val="600"/>
              </a:spcAft>
              <a:defRPr sz="1100">
                <a:solidFill>
                  <a:srgbClr val="212121"/>
                </a:solidFill>
                <a:latin typeface="Arial"/>
              </a:defRPr>
            </a:pPr>
            <a:r>
              <a:t>• Case 4: Z-axis fault detected and flagged (axis reported == 2)</a:t>
            </a:r>
          </a:p>
          <a:p>
            <a:pPr>
              <a:spcAft>
                <a:spcPts val="600"/>
              </a:spcAft>
              <a:defRPr sz="1100">
                <a:solidFill>
                  <a:srgbClr val="212121"/>
                </a:solidFill>
                <a:latin typeface="Arial"/>
              </a:defRPr>
            </a:pPr>
            <a:r>
              <a:t>• Timing: Confirmed 6.4 ms per-axis rotation intervals</a:t>
            </a:r>
          </a:p>
        </p:txBody>
      </p:sp>
      <p:sp>
        <p:nvSpPr>
          <p:cNvPr id="8" name="Rounded Rectangle 7"/>
          <p:cNvSpPr/>
          <p:nvPr/>
        </p:nvSpPr>
        <p:spPr>
          <a:xfrm>
            <a:off x="4358030" y="2468880"/>
            <a:ext cx="3474720" cy="3108960"/>
          </a:xfrm>
          <a:prstGeom prst="roundRect">
            <a:avLst/>
          </a:prstGeom>
          <a:solidFill>
            <a:srgbClr val="F8F9FA"/>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40910" y="2651760"/>
            <a:ext cx="3108960" cy="2743200"/>
          </a:xfrm>
          <a:prstGeom prst="rect">
            <a:avLst/>
          </a:prstGeom>
          <a:noFill/>
        </p:spPr>
        <p:txBody>
          <a:bodyPr wrap="square">
            <a:spAutoFit/>
          </a:bodyPr>
          <a:lstStyle/>
          <a:p>
            <a:pPr>
              <a:spcAft>
                <a:spcPts val="1000"/>
              </a:spcAft>
              <a:defRPr sz="1400" b="1">
                <a:solidFill>
                  <a:srgbClr val="1A237E"/>
                </a:solidFill>
                <a:latin typeface="Arial"/>
              </a:defRPr>
            </a:pPr>
            <a:r>
              <a:t>Goertzel Core (tb_goertzel_core.v)</a:t>
            </a:r>
            <a:br/>
            <a:r>
              <a:t>Result: All Passed ✅</a:t>
            </a:r>
          </a:p>
          <a:p>
            <a:pPr>
              <a:spcAft>
                <a:spcPts val="600"/>
              </a:spcAft>
              <a:defRPr sz="1100">
                <a:solidFill>
                  <a:srgbClr val="212121"/>
                </a:solidFill>
                <a:latin typeface="Arial"/>
              </a:defRPr>
            </a:pPr>
            <a:r>
              <a:t>• Verified second-order recurrence filtering over 500 samples</a:t>
            </a:r>
          </a:p>
          <a:p>
            <a:pPr>
              <a:spcAft>
                <a:spcPts val="600"/>
              </a:spcAft>
              <a:defRPr sz="1100">
                <a:solidFill>
                  <a:srgbClr val="212121"/>
                </a:solidFill>
                <a:latin typeface="Arial"/>
              </a:defRPr>
            </a:pPr>
            <a:r>
              <a:t>• Confirmed Q8.15 fixed-point arithmetic match with model</a:t>
            </a:r>
          </a:p>
          <a:p>
            <a:pPr>
              <a:spcAft>
                <a:spcPts val="600"/>
              </a:spcAft>
              <a:defRPr sz="1100">
                <a:solidFill>
                  <a:srgbClr val="212121"/>
                </a:solidFill>
                <a:latin typeface="Arial"/>
              </a:defRPr>
            </a:pPr>
            <a:r>
              <a:t>• Verified math accuracy for 1k, 5k, 10k Hz coefficients</a:t>
            </a:r>
          </a:p>
          <a:p>
            <a:pPr>
              <a:spcAft>
                <a:spcPts val="600"/>
              </a:spcAft>
              <a:defRPr sz="1100">
                <a:solidFill>
                  <a:srgbClr val="212121"/>
                </a:solidFill>
                <a:latin typeface="Arial"/>
              </a:defRPr>
            </a:pPr>
            <a:r>
              <a:t>• sample_done counter exactly matched sample inputs</a:t>
            </a:r>
          </a:p>
        </p:txBody>
      </p:sp>
      <p:sp>
        <p:nvSpPr>
          <p:cNvPr id="10" name="Rounded Rectangle 9"/>
          <p:cNvSpPr/>
          <p:nvPr/>
        </p:nvSpPr>
        <p:spPr>
          <a:xfrm>
            <a:off x="8259775" y="2468880"/>
            <a:ext cx="3474720" cy="3108960"/>
          </a:xfrm>
          <a:prstGeom prst="roundRect">
            <a:avLst/>
          </a:prstGeom>
          <a:solidFill>
            <a:srgbClr val="F8F9FA"/>
          </a:solidFill>
          <a:ln w="1905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42655" y="2651760"/>
            <a:ext cx="3108960" cy="2743200"/>
          </a:xfrm>
          <a:prstGeom prst="rect">
            <a:avLst/>
          </a:prstGeom>
          <a:noFill/>
        </p:spPr>
        <p:txBody>
          <a:bodyPr wrap="square">
            <a:spAutoFit/>
          </a:bodyPr>
          <a:lstStyle/>
          <a:p>
            <a:pPr>
              <a:spcAft>
                <a:spcPts val="1000"/>
              </a:spcAft>
              <a:defRPr sz="1400" b="1">
                <a:solidFill>
                  <a:srgbClr val="1A237E"/>
                </a:solidFill>
                <a:latin typeface="Arial"/>
              </a:defRPr>
            </a:pPr>
            <a:r>
              <a:t>SPI Interface (tb_spi_master_full.v)</a:t>
            </a:r>
            <a:br/>
            <a:r>
              <a:t>Result: 71 / 71 Passed ✅</a:t>
            </a:r>
          </a:p>
          <a:p>
            <a:pPr>
              <a:spcAft>
                <a:spcPts val="600"/>
              </a:spcAft>
              <a:defRPr sz="1100">
                <a:solidFill>
                  <a:srgbClr val="212121"/>
                </a:solidFill>
                <a:latin typeface="Arial"/>
              </a:defRPr>
            </a:pPr>
            <a:r>
              <a:t>• Verified boot sequence (configured 4 registers via SPI)</a:t>
            </a:r>
          </a:p>
          <a:p>
            <a:pPr>
              <a:spcAft>
                <a:spcPts val="600"/>
              </a:spcAft>
              <a:defRPr sz="1100">
                <a:solidFill>
                  <a:srgbClr val="212121"/>
                </a:solidFill>
                <a:latin typeface="Arial"/>
              </a:defRPr>
            </a:pPr>
            <a:r>
              <a:t>• Confirmed DRDY synchronizer operations</a:t>
            </a:r>
          </a:p>
          <a:p>
            <a:pPr>
              <a:spcAft>
                <a:spcPts val="600"/>
              </a:spcAft>
              <a:defRPr sz="1100">
                <a:solidFill>
                  <a:srgbClr val="212121"/>
                </a:solidFill>
                <a:latin typeface="Arial"/>
              </a:defRPr>
            </a:pPr>
            <a:r>
              <a:t>• Verified CPOL=1, CPHA=1 protocol constraints</a:t>
            </a:r>
          </a:p>
          <a:p>
            <a:pPr>
              <a:spcAft>
                <a:spcPts val="600"/>
              </a:spcAft>
              <a:defRPr sz="1100">
                <a:solidFill>
                  <a:srgbClr val="212121"/>
                </a:solidFill>
                <a:latin typeface="Arial"/>
              </a:defRPr>
            </a:pPr>
            <a:r>
              <a:t>• Confirmed proper execution of 8 burst-read transactions</a:t>
            </a:r>
          </a:p>
        </p:txBody>
      </p:sp>
      <p:sp>
        <p:nvSpPr>
          <p:cNvPr id="12" name="TextBox 11"/>
          <p:cNvSpPr txBox="1"/>
          <p:nvPr/>
        </p:nvSpPr>
        <p:spPr>
          <a:xfrm>
            <a:off x="457200" y="5760720"/>
            <a:ext cx="11277295" cy="731520"/>
          </a:xfrm>
          <a:prstGeom prst="rect">
            <a:avLst/>
          </a:prstGeom>
          <a:noFill/>
        </p:spPr>
        <p:txBody>
          <a:bodyPr wrap="square">
            <a:spAutoFit/>
          </a:bodyPr>
          <a:lstStyle/>
          <a:p>
            <a:pPr>
              <a:defRPr sz="1100" i="1">
                <a:solidFill>
                  <a:srgbClr val="757575"/>
                </a:solidFill>
                <a:latin typeface="Arial"/>
              </a:defRPr>
            </a:pPr>
            <a:r>
              <a:t>Regression Summary: Verification confirms Option 3 behaves exactly as designed. The Axis Sequencer rotates axes every 171 samples, and the Fault Flagger reliably detects and asserts a sticky interrupt at 6.4 ms per axis (19.2 ms full cycle) with no false alarms.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11277295" cy="73152"/>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1277295" cy="274320"/>
          </a:xfrm>
          <a:prstGeom prst="rect">
            <a:avLst/>
          </a:prstGeom>
          <a:noFill/>
        </p:spPr>
        <p:txBody>
          <a:bodyPr wrap="square" lIns="0" tIns="0" rIns="0" bIns="0">
            <a:spAutoFit/>
          </a:bodyPr>
          <a:lstStyle/>
          <a:p>
            <a:pPr>
              <a:defRPr sz="1000" b="1">
                <a:solidFill>
                  <a:srgbClr val="00796B"/>
                </a:solidFill>
                <a:latin typeface="Arial"/>
              </a:defRPr>
            </a:pPr>
            <a:r>
              <a:t>SPACE-GRADE MECHANICAL FAULT DETECTOR</a:t>
            </a:r>
          </a:p>
        </p:txBody>
      </p:sp>
      <p:sp>
        <p:nvSpPr>
          <p:cNvPr id="4" name="TextBox 3"/>
          <p:cNvSpPr txBox="1"/>
          <p:nvPr/>
        </p:nvSpPr>
        <p:spPr>
          <a:xfrm>
            <a:off x="457200" y="731520"/>
            <a:ext cx="11277295" cy="731520"/>
          </a:xfrm>
          <a:prstGeom prst="rect">
            <a:avLst/>
          </a:prstGeom>
          <a:noFill/>
        </p:spPr>
        <p:txBody>
          <a:bodyPr wrap="square" lIns="0" tIns="0" rIns="0" bIns="0">
            <a:spAutoFit/>
          </a:bodyPr>
          <a:lstStyle/>
          <a:p>
            <a:pPr>
              <a:defRPr sz="2800" b="1">
                <a:solidFill>
                  <a:srgbClr val="1A237E"/>
                </a:solidFill>
                <a:latin typeface="Arial"/>
              </a:defRPr>
            </a:pPr>
            <a:r>
              <a:t>Roadmap &amp; Key Takeaways</a:t>
            </a:r>
          </a:p>
        </p:txBody>
      </p:sp>
      <p:sp>
        <p:nvSpPr>
          <p:cNvPr id="5" name="TextBox 4"/>
          <p:cNvSpPr txBox="1"/>
          <p:nvPr/>
        </p:nvSpPr>
        <p:spPr>
          <a:xfrm>
            <a:off x="457200" y="1645920"/>
            <a:ext cx="6858000" cy="4572000"/>
          </a:xfrm>
          <a:prstGeom prst="rect">
            <a:avLst/>
          </a:prstGeom>
          <a:noFill/>
        </p:spPr>
        <p:txBody>
          <a:bodyPr wrap="square">
            <a:spAutoFit/>
          </a:bodyPr>
          <a:lstStyle/>
          <a:p>
            <a:pPr>
              <a:spcAft>
                <a:spcPts val="1400"/>
              </a:spcAft>
              <a:defRPr sz="2000" b="1">
                <a:solidFill>
                  <a:srgbClr val="1A237E"/>
                </a:solidFill>
                <a:latin typeface="Arial"/>
              </a:defRPr>
            </a:pPr>
            <a:r>
              <a:t>Key Contributions</a:t>
            </a:r>
          </a:p>
          <a:p>
            <a:pPr>
              <a:spcAft>
                <a:spcPts val="1200"/>
              </a:spcAft>
              <a:defRPr sz="1200">
                <a:solidFill>
                  <a:srgbClr val="212121"/>
                </a:solidFill>
                <a:latin typeface="Arial"/>
              </a:defRPr>
            </a:pPr>
            <a:r>
              <a:t>1️⃣  Direct Digital MEMS Interface:</a:t>
            </a:r>
            <a:br/>
            <a:r>
              <a:t>Eliminates radiation-vulnerable analog components. End-to-end digital processing enables simple physical hardening of the logic.</a:t>
            </a:r>
          </a:p>
          <a:p>
            <a:pPr>
              <a:spcAft>
                <a:spcPts val="1200"/>
              </a:spcAft>
              <a:defRPr sz="1200">
                <a:solidFill>
                  <a:srgbClr val="212121"/>
                </a:solidFill>
                <a:latin typeface="Arial"/>
              </a:defRPr>
            </a:pPr>
            <a:r>
              <a:t>2️⃣  Pragmatic Optimization (Option 3):</a:t>
            </a:r>
            <a:br/>
            <a:r>
              <a:t>Fits within the 600×600 µm Chipathon boundary with zero area cost, while speeding up vibration anomaly detection by three times.</a:t>
            </a:r>
          </a:p>
          <a:p>
            <a:pPr>
              <a:spcAft>
                <a:spcPts val="1200"/>
              </a:spcAft>
              <a:defRPr sz="1200">
                <a:solidFill>
                  <a:srgbClr val="212121"/>
                </a:solidFill>
                <a:latin typeface="Arial"/>
              </a:defRPr>
            </a:pPr>
            <a:r>
              <a:t>3️⃣  Comprehensive Radiation Hardening (RHBD):</a:t>
            </a:r>
            <a:br/>
            <a:r>
              <a:t>Protects critical FSMs and configurations using TMR and majority voting, combined with background scrubbing and guard rings.</a:t>
            </a:r>
          </a:p>
          <a:p>
            <a:pPr>
              <a:spcAft>
                <a:spcPts val="1200"/>
              </a:spcAft>
              <a:defRPr sz="1200">
                <a:solidFill>
                  <a:srgbClr val="212121"/>
                </a:solidFill>
                <a:latin typeface="Arial"/>
              </a:defRPr>
            </a:pPr>
            <a:r>
              <a:t>4️⃣  Verified &amp; Tapeout-Ready:</a:t>
            </a:r>
            <a:br/>
            <a:r>
              <a:t>79/79 verification tests passed. All block boundaries, timing, and math precision checks succeeded.</a:t>
            </a:r>
          </a:p>
        </p:txBody>
      </p:sp>
      <p:sp>
        <p:nvSpPr>
          <p:cNvPr id="6" name="Rounded Rectangle 5"/>
          <p:cNvSpPr/>
          <p:nvPr/>
        </p:nvSpPr>
        <p:spPr>
          <a:xfrm>
            <a:off x="7772400" y="1645920"/>
            <a:ext cx="3962095" cy="4572000"/>
          </a:xfrm>
          <a:prstGeom prst="roundRect">
            <a:avLst/>
          </a:prstGeom>
          <a:solidFill>
            <a:srgbClr val="E0F2F1"/>
          </a:solidFill>
          <a:ln w="19050">
            <a:solidFill>
              <a:srgbClr val="0079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1828800"/>
            <a:ext cx="3596335" cy="4206240"/>
          </a:xfrm>
          <a:prstGeom prst="rect">
            <a:avLst/>
          </a:prstGeom>
          <a:noFill/>
        </p:spPr>
        <p:txBody>
          <a:bodyPr wrap="square">
            <a:spAutoFit/>
          </a:bodyPr>
          <a:lstStyle/>
          <a:p>
            <a:pPr>
              <a:spcAft>
                <a:spcPts val="1600"/>
              </a:spcAft>
              <a:defRPr sz="1800" b="1">
                <a:solidFill>
                  <a:srgbClr val="1A237E"/>
                </a:solidFill>
                <a:latin typeface="Arial"/>
              </a:defRPr>
            </a:pPr>
            <a:r>
              <a:t>Project Roadmap</a:t>
            </a:r>
          </a:p>
          <a:p>
            <a:pPr>
              <a:spcBef>
                <a:spcPts val="800"/>
              </a:spcBef>
              <a:defRPr sz="1300" b="1">
                <a:solidFill>
                  <a:srgbClr val="FF6F00"/>
                </a:solidFill>
                <a:latin typeface="Arial"/>
              </a:defRPr>
            </a:pPr>
            <a:r>
              <a:t>📅 Q3 2026:</a:t>
            </a:r>
          </a:p>
          <a:p>
            <a:pPr>
              <a:spcAft>
                <a:spcPts val="800"/>
              </a:spcAft>
              <a:defRPr sz="1200">
                <a:solidFill>
                  <a:srgbClr val="212121"/>
                </a:solidFill>
                <a:latin typeface="Arial"/>
              </a:defRPr>
            </a:pPr>
            <a:r>
              <a:t>Tape-out via SSCS Chipathon Shuttle (GF180MCU process)</a:t>
            </a:r>
          </a:p>
          <a:p>
            <a:pPr>
              <a:spcBef>
                <a:spcPts val="800"/>
              </a:spcBef>
              <a:defRPr sz="1300" b="1">
                <a:solidFill>
                  <a:srgbClr val="FF6F00"/>
                </a:solidFill>
                <a:latin typeface="Arial"/>
              </a:defRPr>
            </a:pPr>
            <a:r>
              <a:t>📅 Q4 2026:</a:t>
            </a:r>
          </a:p>
          <a:p>
            <a:pPr>
              <a:spcAft>
                <a:spcPts val="800"/>
              </a:spcAft>
              <a:defRPr sz="1200">
                <a:solidFill>
                  <a:srgbClr val="212121"/>
                </a:solidFill>
                <a:latin typeface="Arial"/>
              </a:defRPr>
            </a:pPr>
            <a:r>
              <a:t>Laboratory post-silicon testing and power/latency measurement</a:t>
            </a:r>
          </a:p>
          <a:p>
            <a:pPr>
              <a:spcBef>
                <a:spcPts val="800"/>
              </a:spcBef>
              <a:defRPr sz="1300" b="1">
                <a:solidFill>
                  <a:srgbClr val="FF6F00"/>
                </a:solidFill>
                <a:latin typeface="Arial"/>
              </a:defRPr>
            </a:pPr>
            <a:r>
              <a:t>📅 Q1 2027:</a:t>
            </a:r>
          </a:p>
          <a:p>
            <a:pPr>
              <a:spcAft>
                <a:spcPts val="800"/>
              </a:spcAft>
              <a:defRPr sz="1200">
                <a:solidFill>
                  <a:srgbClr val="212121"/>
                </a:solidFill>
                <a:latin typeface="Arial"/>
              </a:defRPr>
            </a:pPr>
            <a:r>
              <a:t>Implement Option 1 (Parallel Cores) to eliminate sequential data loss</a:t>
            </a:r>
          </a:p>
          <a:p>
            <a:pPr>
              <a:spcBef>
                <a:spcPts val="800"/>
              </a:spcBef>
              <a:defRPr sz="1300" b="1">
                <a:solidFill>
                  <a:srgbClr val="FF6F00"/>
                </a:solidFill>
                <a:latin typeface="Arial"/>
              </a:defRPr>
            </a:pPr>
            <a:r>
              <a:t>📅 Q2 2027:</a:t>
            </a:r>
          </a:p>
          <a:p>
            <a:pPr>
              <a:spcAft>
                <a:spcPts val="800"/>
              </a:spcAft>
              <a:defRPr sz="1200">
                <a:solidFill>
                  <a:srgbClr val="212121"/>
                </a:solidFill>
                <a:latin typeface="Arial"/>
              </a:defRPr>
            </a:pPr>
            <a:r>
              <a:t>Flight qualify for educational CubeSat missions (TRL 5/6); open-source RTL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