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jpeg" ContentType="image/jpe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CDC7B4-D3BD-4B68-AAED-E14F1EE4A8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4E5878-B61E-4CAF-89C3-5231587396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C06F4CA-E7F4-481C-81B9-EA77EFAAC8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7287E4-BA70-4818-AF9A-96404B4741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78ED491-03FE-44C4-B388-D8CF5E22B9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AAB789C-A05E-47E5-BF71-A604137985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EC634AE-630B-4A68-A45A-7610AB6781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4F0003E-944B-4A56-A75A-D6C5E707B6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6A03209-3D45-418F-80B9-F76D8F8879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D7C574B-719C-4022-889E-36101E27DF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BA535D7-F4D8-4100-872D-792DADE171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8CC82C-0B9C-40B7-8755-BC6B19F3CB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E6CA1C-F1C5-4D25-B851-5D7EB51D0C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47796D-82B9-4A5D-9357-59FB3137A8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BFDB77-796E-47CF-9553-D309A2A87B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BAB507-3D74-4170-B93B-44A811D70D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958E8B-D484-4066-A3DF-A8E8DB95AD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D991E0-5B01-476B-B59B-B794DBEF92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AB606D-81DC-44F2-9988-E0216F2254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F3CBFC-71D9-4DEC-AB65-0D7F155163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77D9EB-D20A-46C3-802F-EC00C44687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D31E36-14A8-4A89-8F25-73E5CD212F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70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457200" y="685800"/>
            <a:ext cx="8229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0709a"/>
                </a:solidFill>
                <a:latin typeface="Calibri"/>
              </a:rPr>
              <a:t>Space-Grade Mechanical Fault Detector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779120" y="1783080"/>
            <a:ext cx="5585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</a:rPr>
              <a:t>An IEEE SSCS Chipathon 2026 Project — Team B22: Space Jam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1371600" y="2468880"/>
            <a:ext cx="640044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latin typeface="Calibri"/>
              </a:rPr>
              <a:t>Kishor R  (Team Lead)  ·  Rohit L  ·  Rishadd Ranjith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latin typeface="Calibri"/>
              </a:rPr>
              <a:t>National Institute of Technology Karnataka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00"/>
                </a:solidFill>
                <a:latin typeface="Calibri"/>
              </a:rPr>
              <a:t>Contact: nhskishor@gmail.com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2587680" y="3749040"/>
            <a:ext cx="3968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0709a"/>
                </a:solidFill>
                <a:latin typeface="Calibri"/>
              </a:rPr>
              <a:t>GlobalFoundries 180nm  ·  GF180MCU Process  ·  600×600 µm Die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78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2887920" y="777240"/>
            <a:ext cx="3367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System Architecture Overview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320040" y="1280160"/>
            <a:ext cx="4205880" cy="16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Direct Digital MEMS Interface: 16-bit acceleration samples at 26.667 kHz natively via SPI.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SPI-APB Interface: Buffers samples &amp; decouples SPI and APB timing domains.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TMR Register Bank: Radiation-hardened configuration storage for coefficients &amp; thresholds.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Axis Sequencer: Time-multiplexes X, Y, Z axis data to process them sequentially.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Goertzel Core: Custom hardware DSP engine for targeted frequency bin filtering.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Magnitude Compute: Converts recursive filter states into spectral energy snapshot.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Fault Flagger: Compares spectral magnitude to thresholds and asserts interrupt.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APB Master: Interfaces with system bus for register reads and configuration.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Picture 8" descr="arch.png"/>
          <p:cNvPicPr/>
          <p:nvPr/>
        </p:nvPicPr>
        <p:blipFill>
          <a:blip r:embed="rId4"/>
          <a:stretch/>
        </p:blipFill>
        <p:spPr>
          <a:xfrm>
            <a:off x="4663440" y="1280160"/>
            <a:ext cx="4160160" cy="310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84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86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1872720" y="777240"/>
            <a:ext cx="5397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Direct Digital Sensor Interface (SPI &amp; APB Master)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320040" y="1280160"/>
            <a:ext cx="4205880" cy="19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SPI Master Interface (Module 1)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Protocol: SPI Mode-3 (CPOL=1, CPHA=1)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Acquisition: 48-bit XYZ burst reads minimize transaction overhead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Clock Domain Crossing: 2FF synchronizers prevent metastability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Triggering: Event-driven by sensor DRDY interrupt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Shared FSM: Seamlessly handles boot configuration (4 regs) &amp; acquisition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APB Master &amp; Bus Interface (Modules 2 &amp; 3)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Protocol: Standard AMBA APB protocol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FSM Control: Lightweight 3-state control (IDLE, SETUP, ACCESS)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Wait States: Full PREADY support allows slow peripherals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Efficiency: Request-driven transactions minimize switching power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8" descr="top_modules.png"/>
          <p:cNvPicPr/>
          <p:nvPr/>
        </p:nvPicPr>
        <p:blipFill>
          <a:blip r:embed="rId4"/>
          <a:stretch/>
        </p:blipFill>
        <p:spPr>
          <a:xfrm>
            <a:off x="4663440" y="1280160"/>
            <a:ext cx="4160160" cy="310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94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1933200" y="777240"/>
            <a:ext cx="527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Hardware-Optimized DSP Engine (Goertzel Core)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320040" y="1280160"/>
            <a:ext cx="4205880" cy="23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The Goertzel Algorithm (Second-Order IIR Filter)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v[n] = x[n] + C · v[n-1] - v[n-2]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Why Goertzel over FFT?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Computes energy at targeted frequency bins (1k, 5k, 10k Hz) only.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Bins monitored: 3 programmable bins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Execution speed: 6 clock cycles per sample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Control: Triplicated (TMR) state machine for SEU resilience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DSP Hardware Features (Module 6)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Shared Multiplier: Single multiplier shared across 3 bins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Saturating Q8.15 Fixed-Point: Prevents overflow corruption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Operand Isolation: Inputs gated when core is idle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Power Savings: Active only 6 cycles out of 1875 cycles per sample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4"/>
          <a:stretch/>
        </p:blipFill>
        <p:spPr>
          <a:xfrm>
            <a:off x="4343400" y="1600200"/>
            <a:ext cx="4114800" cy="254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100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101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102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3008160" y="777240"/>
            <a:ext cx="3126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Magnitude Compute Engine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320040" y="1280160"/>
            <a:ext cx="4205880" cy="23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Goertzel Magnitude Squared Formula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Magnitude² = v1² + v2² - C · v1 · v2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(v1 = v[N-1], v2 = v[N-2] at block boundary)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Snapshot Architecture (Module 7)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At block boundary (N=171), captures v1, v2, coefficient C, and axis index.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Resource Sharing (Zero-Area Multiplier)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Multiplier Reuse: Magnitude engine reuses Goertzel core multiplier — 0 area cost!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Sequential Magnitude FSM: Calculates 3 bins sequentially (8 cycles/bin, 24 cycles total)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Triggering: Remains idle (near-zero power) until block boundary event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Axis Attribution: Physical axis index snapshotted alongside Goertzel states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4"/>
          <a:stretch/>
        </p:blipFill>
        <p:spPr>
          <a:xfrm>
            <a:off x="4485240" y="1371600"/>
            <a:ext cx="4430160" cy="274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109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110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1982520" y="777240"/>
            <a:ext cx="517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Radiation Hardening by Design (RHBD) Strategy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320040" y="1280160"/>
            <a:ext cx="4205880" cy="25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Space Radiation Protection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High-energy space particles flip register bits (Single Event Upsets / SEUs).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Triple Modular Redundancy (TMR)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Triplicated configuration registers, Goertzel coefficients, thresholds &amp; FSMs.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1-cycle majority voting continuously resolves and masks bit flips.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Background Scrubbing (Module 4)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Periodic scrubber checks register copies in background and restores corrupted copies.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SRAM-Free &amp; Physical Hardening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Hardened flip-flop arrays (no radiation-vulnerable SRAM).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Dense substrate taps &amp; guard rings enclose active logic.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4"/>
          <a:stretch/>
        </p:blipFill>
        <p:spPr>
          <a:xfrm>
            <a:off x="4572000" y="1600200"/>
            <a:ext cx="4343400" cy="274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118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2196720" y="777240"/>
            <a:ext cx="4750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Critical Area Constraint &amp; Trade-off Options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320040" y="1280160"/>
            <a:ext cx="8503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Engineering Challenge: IIS3DWB outputs 3 axes simultaneously, but Chipathon die area is strictly capped at 600×600 µm.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2" name="Table 8"/>
          <p:cNvGraphicFramePr/>
          <p:nvPr/>
        </p:nvGraphicFramePr>
        <p:xfrm>
          <a:off x="320040" y="2011680"/>
          <a:ext cx="8503560" cy="1645920"/>
        </p:xfrm>
        <a:graphic>
          <a:graphicData uri="http://schemas.openxmlformats.org/drawingml/2006/table">
            <a:tbl>
              <a:tblPr/>
              <a:tblGrid>
                <a:gridCol w="2125800"/>
                <a:gridCol w="2125800"/>
                <a:gridCol w="2125800"/>
                <a:gridCol w="2125800"/>
              </a:tblGrid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709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Architecture Description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709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Die Area Cost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709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Fault Detection Latency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709a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Option 1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 Parallel Goertzel Cores (X, Y, Z)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Exceeds 600×600 µm limit ❌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Fastest (19.2 ms)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Option 2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Single-Axis Processing Only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Within Area Limit ✓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 multi-axis coverage ❌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Option 3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Axis Sequencer (BLOCK_SIZE=171)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Fits 600×600 µm Budget (0 Area Penalty) ✓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3× Latency Speedup (~6.4 ms) ✅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23" name="TextBox 9"/>
          <p:cNvSpPr/>
          <p:nvPr/>
        </p:nvSpPr>
        <p:spPr>
          <a:xfrm>
            <a:off x="320040" y="3840480"/>
            <a:ext cx="85035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00709a"/>
                </a:solidFill>
                <a:latin typeface="Calibri"/>
              </a:rPr>
              <a:t>Selected Optimization: Option 3 (BLOCK_SIZE = 171) — Reduces block size from 512 to 171, achieving 3× faster per-axis latency detection with zero area penalty.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127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2057400" y="777240"/>
            <a:ext cx="5028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Option 3 Implementation &amp; Trade-off Analysis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320040" y="1280160"/>
            <a:ext cx="8503560" cy="20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Quantitative Performance Trade-offs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BLOCK_SIZE reduced from 512 → 171 (3× improvement in per-axis detection latency)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Threshold scaling: Magnitude ∝ N², so thresholds divided by (512/171)² ≈ 8.96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Area: Zero additional area cost — achieved through sequencing, not added hardware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Accepted Limitations &amp; Spacecraft Justification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1. Sequential Processing Data Loss: 2 of 3 axes discarded during any single block acquisition.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2. Intermittent Fault Coverage: Cannot detect simultaneous multi-axis faults during rotation.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3. Justification for Spacecraft Applications: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  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Mechanical failures (bearing wear, pump fatigue) degrade slowly over hours or days.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  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Per-axis latency of ~6.4 ms is far below the timescale of structural degradation.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     </a:t>
            </a: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This trade-off is fully acceptable for the mission profile.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134" name="TextBox 4"/>
          <p:cNvSpPr/>
          <p:nvPr/>
        </p:nvSpPr>
        <p:spPr>
          <a:xfrm>
            <a:off x="204120" y="4709160"/>
            <a:ext cx="2314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6"/>
          <p:cNvSpPr/>
          <p:nvPr/>
        </p:nvSpPr>
        <p:spPr>
          <a:xfrm>
            <a:off x="1910160" y="777240"/>
            <a:ext cx="5322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Comprehensive Verification &amp; Regression Testing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320040" y="1280160"/>
            <a:ext cx="4205880" cy="23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100% Assertion Success — All 79 Verification Checks Passed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Top Integration (tb_top.v) — 7 / 7 Passed 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Case 1: Quiet normal operation (no false positives)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Cases 2–4: X, Y, Z-axis fault detected &amp; flagged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Timing: Confirmed 6.4 ms per-axis rotation intervals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Goertzel Core (tb_goertzel_core.v) — Passed 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Verified second-order recurrence filtering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Q8.15 fixed-point arithmetic vs. Python model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SPI Master Interface — 71 / 71 Passed 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950" spc="-1" strike="noStrike">
                <a:solidFill>
                  <a:srgbClr val="000000"/>
                </a:solidFill>
                <a:latin typeface="Calibri"/>
              </a:rPr>
              <a:t>Boot config, DRDY sync, Mode-3 timing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4"/>
          <a:stretch/>
        </p:blipFill>
        <p:spPr>
          <a:xfrm>
            <a:off x="3657600" y="1600200"/>
            <a:ext cx="4806360" cy="228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" descr="pdf_img_14_1920x144.jpeg"/>
          <p:cNvPicPr/>
          <p:nvPr/>
        </p:nvPicPr>
        <p:blipFill>
          <a:blip r:embed="rId1"/>
          <a:stretch/>
        </p:blipFill>
        <p:spPr>
          <a:xfrm>
            <a:off x="0" y="0"/>
            <a:ext cx="9143640" cy="502560"/>
          </a:xfrm>
          <a:prstGeom prst="rect">
            <a:avLst/>
          </a:prstGeom>
          <a:ln w="0">
            <a:noFill/>
          </a:ln>
        </p:spPr>
      </p:pic>
      <p:pic>
        <p:nvPicPr>
          <p:cNvPr id="140" name="Picture 2" descr="pdf_img_15_1920x144.jpeg"/>
          <p:cNvPicPr/>
          <p:nvPr/>
        </p:nvPicPr>
        <p:blipFill>
          <a:blip r:embed="rId2"/>
          <a:stretch/>
        </p:blipFill>
        <p:spPr>
          <a:xfrm>
            <a:off x="0" y="4663440"/>
            <a:ext cx="9143640" cy="47988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3" descr="pdf_img_13_232x72.jpeg"/>
          <p:cNvPicPr/>
          <p:nvPr/>
        </p:nvPicPr>
        <p:blipFill>
          <a:blip r:embed="rId3"/>
          <a:stretch/>
        </p:blipFill>
        <p:spPr>
          <a:xfrm>
            <a:off x="8138160" y="4663440"/>
            <a:ext cx="914040" cy="411120"/>
          </a:xfrm>
          <a:prstGeom prst="rect">
            <a:avLst/>
          </a:prstGeom>
          <a:ln w="0">
            <a:noFill/>
          </a:ln>
        </p:spPr>
      </p:pic>
      <p:sp>
        <p:nvSpPr>
          <p:cNvPr id="142" name="TextBox 4"/>
          <p:cNvSpPr/>
          <p:nvPr/>
        </p:nvSpPr>
        <p:spPr>
          <a:xfrm>
            <a:off x="178200" y="4709160"/>
            <a:ext cx="283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</a:rPr>
              <a:t>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3171960" y="502920"/>
            <a:ext cx="2525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SPACE-GRADE MECHANICAL FAULT DETECTOR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3047760" y="777240"/>
            <a:ext cx="3047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709a"/>
                </a:solidFill>
                <a:latin typeface="Calibri"/>
              </a:rPr>
              <a:t>Roadmap &amp; Key Takeaways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320040" y="1280160"/>
            <a:ext cx="8503560" cy="19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Key Contributions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1. Direct Digital MEMS Interface: Eliminates analog radiation-vulnerable ADCs.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2. Pragmatic Optimization (Option 3): Fits 600×600 µm, 3× faster detection, zero area cost.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3. Radiation Hardening (RHBD): TMR, majority voting, background scrubbing.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4. Verified &amp; Tapeout-Ready: 79/79 verification tests passed.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Project Roadmap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week 28: Make Some Improvements in RTL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week 29: Make some minute changes in rtl for ASIC readiness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Noto Sans CJK SC"/>
              </a:rPr>
              <a:t>  •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week 30: Initial ASIC runs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Noto Sans CJK SC"/>
              </a:rPr>
              <a:t>  •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week 31: Get to the AREA constraint and calculate power,solve timing issues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2026-07-30T19:04:12Z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